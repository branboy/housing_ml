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99" d="100"/>
          <a:sy n="199" d="100"/>
        </p:scale>
        <p:origin x="684"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BB7253-B9A2-45A7-80B5-DAD7CF5C6D68}"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AD337841-5939-4E26-9D8D-64D18FDF59F0}">
      <dgm:prSet/>
      <dgm:spPr/>
      <dgm:t>
        <a:bodyPr/>
        <a:lstStyle/>
        <a:p>
          <a:r>
            <a:rPr lang="en-US"/>
            <a:t>Classical Approach (Hedonic Pricing / Linear Regression):Early work modeled housing prices as a linear combination of features such as square footage, number of rooms, and location. A well-known example is the Boston Housing Dataset, which demonstrated how statistical models can capture basic relationships but struggle with nonlinear patterns.</a:t>
          </a:r>
        </a:p>
      </dgm:t>
    </dgm:pt>
    <dgm:pt modelId="{D9C96B6B-A8E2-4275-8427-B2676E0E4428}" type="parTrans" cxnId="{542D5E16-ED75-439D-8E9F-F2FCF0D5C3B5}">
      <dgm:prSet/>
      <dgm:spPr/>
      <dgm:t>
        <a:bodyPr/>
        <a:lstStyle/>
        <a:p>
          <a:endParaRPr lang="en-US"/>
        </a:p>
      </dgm:t>
    </dgm:pt>
    <dgm:pt modelId="{9C3D9037-CA0A-4854-848A-B5C23C64306C}" type="sibTrans" cxnId="{542D5E16-ED75-439D-8E9F-F2FCF0D5C3B5}">
      <dgm:prSet/>
      <dgm:spPr/>
      <dgm:t>
        <a:bodyPr/>
        <a:lstStyle/>
        <a:p>
          <a:endParaRPr lang="en-US"/>
        </a:p>
      </dgm:t>
    </dgm:pt>
    <dgm:pt modelId="{B47BE087-2B89-402C-B515-10CE39D9915B}">
      <dgm:prSet/>
      <dgm:spPr/>
      <dgm:t>
        <a:bodyPr/>
        <a:lstStyle/>
        <a:p>
          <a:r>
            <a:rPr lang="en-US"/>
            <a:t>Modern Approach (Tree-Based Machine Learning):More recent studies use advanced Machine Learning models such as Random Forest and Gradient Boosting (e.g., XGBoost). These methods outperform linear models by capturing complex interactions between features and handling large, real-world datasets like Zillow Housing Data.</a:t>
          </a:r>
        </a:p>
      </dgm:t>
    </dgm:pt>
    <dgm:pt modelId="{4CB92FB4-D219-4244-8F0C-9F1CE22194EB}" type="parTrans" cxnId="{E14E2C91-3BCE-4F67-B92D-13F06E750390}">
      <dgm:prSet/>
      <dgm:spPr/>
      <dgm:t>
        <a:bodyPr/>
        <a:lstStyle/>
        <a:p>
          <a:endParaRPr lang="en-US"/>
        </a:p>
      </dgm:t>
    </dgm:pt>
    <dgm:pt modelId="{439E13DC-F12E-42F5-8D2F-186E553BDDCA}" type="sibTrans" cxnId="{E14E2C91-3BCE-4F67-B92D-13F06E750390}">
      <dgm:prSet/>
      <dgm:spPr/>
      <dgm:t>
        <a:bodyPr/>
        <a:lstStyle/>
        <a:p>
          <a:endParaRPr lang="en-US"/>
        </a:p>
      </dgm:t>
    </dgm:pt>
    <dgm:pt modelId="{8053C168-860E-467E-8D1D-2B504FBA539B}" type="pres">
      <dgm:prSet presAssocID="{D1BB7253-B9A2-45A7-80B5-DAD7CF5C6D68}" presName="hierChild1" presStyleCnt="0">
        <dgm:presLayoutVars>
          <dgm:chPref val="1"/>
          <dgm:dir/>
          <dgm:animOne val="branch"/>
          <dgm:animLvl val="lvl"/>
          <dgm:resizeHandles/>
        </dgm:presLayoutVars>
      </dgm:prSet>
      <dgm:spPr/>
    </dgm:pt>
    <dgm:pt modelId="{B043BC71-5197-47F4-B9F1-EB2A37104176}" type="pres">
      <dgm:prSet presAssocID="{AD337841-5939-4E26-9D8D-64D18FDF59F0}" presName="hierRoot1" presStyleCnt="0"/>
      <dgm:spPr/>
    </dgm:pt>
    <dgm:pt modelId="{ADAD6769-21E5-4040-B23B-31ED1323E925}" type="pres">
      <dgm:prSet presAssocID="{AD337841-5939-4E26-9D8D-64D18FDF59F0}" presName="composite" presStyleCnt="0"/>
      <dgm:spPr/>
    </dgm:pt>
    <dgm:pt modelId="{AD5D4B0E-ACE9-4D84-956F-BD52D80A3520}" type="pres">
      <dgm:prSet presAssocID="{AD337841-5939-4E26-9D8D-64D18FDF59F0}" presName="background" presStyleLbl="node0" presStyleIdx="0" presStyleCnt="2"/>
      <dgm:spPr/>
    </dgm:pt>
    <dgm:pt modelId="{7C5E7878-B769-4E46-A70A-BAD628F93062}" type="pres">
      <dgm:prSet presAssocID="{AD337841-5939-4E26-9D8D-64D18FDF59F0}" presName="text" presStyleLbl="fgAcc0" presStyleIdx="0" presStyleCnt="2">
        <dgm:presLayoutVars>
          <dgm:chPref val="3"/>
        </dgm:presLayoutVars>
      </dgm:prSet>
      <dgm:spPr/>
    </dgm:pt>
    <dgm:pt modelId="{85F9B594-7FC0-45FB-AD6A-A94B592F08D9}" type="pres">
      <dgm:prSet presAssocID="{AD337841-5939-4E26-9D8D-64D18FDF59F0}" presName="hierChild2" presStyleCnt="0"/>
      <dgm:spPr/>
    </dgm:pt>
    <dgm:pt modelId="{265BDC11-202F-405B-A10D-D8D1C5737D2E}" type="pres">
      <dgm:prSet presAssocID="{B47BE087-2B89-402C-B515-10CE39D9915B}" presName="hierRoot1" presStyleCnt="0"/>
      <dgm:spPr/>
    </dgm:pt>
    <dgm:pt modelId="{BFDA4977-8B02-49D3-BBDD-81A3A820C0D4}" type="pres">
      <dgm:prSet presAssocID="{B47BE087-2B89-402C-B515-10CE39D9915B}" presName="composite" presStyleCnt="0"/>
      <dgm:spPr/>
    </dgm:pt>
    <dgm:pt modelId="{FC01E382-4BA7-4553-8072-2D2B46B1E1AC}" type="pres">
      <dgm:prSet presAssocID="{B47BE087-2B89-402C-B515-10CE39D9915B}" presName="background" presStyleLbl="node0" presStyleIdx="1" presStyleCnt="2"/>
      <dgm:spPr/>
    </dgm:pt>
    <dgm:pt modelId="{11C731AF-D541-4B51-AE56-C00DF549DD32}" type="pres">
      <dgm:prSet presAssocID="{B47BE087-2B89-402C-B515-10CE39D9915B}" presName="text" presStyleLbl="fgAcc0" presStyleIdx="1" presStyleCnt="2">
        <dgm:presLayoutVars>
          <dgm:chPref val="3"/>
        </dgm:presLayoutVars>
      </dgm:prSet>
      <dgm:spPr/>
    </dgm:pt>
    <dgm:pt modelId="{6883DF02-F1E5-41AC-9DC4-380185DB9544}" type="pres">
      <dgm:prSet presAssocID="{B47BE087-2B89-402C-B515-10CE39D9915B}" presName="hierChild2" presStyleCnt="0"/>
      <dgm:spPr/>
    </dgm:pt>
  </dgm:ptLst>
  <dgm:cxnLst>
    <dgm:cxn modelId="{542D5E16-ED75-439D-8E9F-F2FCF0D5C3B5}" srcId="{D1BB7253-B9A2-45A7-80B5-DAD7CF5C6D68}" destId="{AD337841-5939-4E26-9D8D-64D18FDF59F0}" srcOrd="0" destOrd="0" parTransId="{D9C96B6B-A8E2-4275-8427-B2676E0E4428}" sibTransId="{9C3D9037-CA0A-4854-848A-B5C23C64306C}"/>
    <dgm:cxn modelId="{26EA093E-7F5E-44FE-863C-27B1B4553A03}" type="presOf" srcId="{AD337841-5939-4E26-9D8D-64D18FDF59F0}" destId="{7C5E7878-B769-4E46-A70A-BAD628F93062}" srcOrd="0" destOrd="0" presId="urn:microsoft.com/office/officeart/2005/8/layout/hierarchy1"/>
    <dgm:cxn modelId="{5FDDC16D-6C7A-47F4-839D-20C13DC80FD9}" type="presOf" srcId="{B47BE087-2B89-402C-B515-10CE39D9915B}" destId="{11C731AF-D541-4B51-AE56-C00DF549DD32}" srcOrd="0" destOrd="0" presId="urn:microsoft.com/office/officeart/2005/8/layout/hierarchy1"/>
    <dgm:cxn modelId="{E14E2C91-3BCE-4F67-B92D-13F06E750390}" srcId="{D1BB7253-B9A2-45A7-80B5-DAD7CF5C6D68}" destId="{B47BE087-2B89-402C-B515-10CE39D9915B}" srcOrd="1" destOrd="0" parTransId="{4CB92FB4-D219-4244-8F0C-9F1CE22194EB}" sibTransId="{439E13DC-F12E-42F5-8D2F-186E553BDDCA}"/>
    <dgm:cxn modelId="{FBAB8EFC-FBB5-47B6-88EE-C6123CF982BB}" type="presOf" srcId="{D1BB7253-B9A2-45A7-80B5-DAD7CF5C6D68}" destId="{8053C168-860E-467E-8D1D-2B504FBA539B}" srcOrd="0" destOrd="0" presId="urn:microsoft.com/office/officeart/2005/8/layout/hierarchy1"/>
    <dgm:cxn modelId="{9A4E6A8C-DC3C-4478-B16C-1A83DEEF6B6D}" type="presParOf" srcId="{8053C168-860E-467E-8D1D-2B504FBA539B}" destId="{B043BC71-5197-47F4-B9F1-EB2A37104176}" srcOrd="0" destOrd="0" presId="urn:microsoft.com/office/officeart/2005/8/layout/hierarchy1"/>
    <dgm:cxn modelId="{8BF82856-8555-4013-979A-E0AF5D362A2D}" type="presParOf" srcId="{B043BC71-5197-47F4-B9F1-EB2A37104176}" destId="{ADAD6769-21E5-4040-B23B-31ED1323E925}" srcOrd="0" destOrd="0" presId="urn:microsoft.com/office/officeart/2005/8/layout/hierarchy1"/>
    <dgm:cxn modelId="{73BCD6ED-E4E0-41AF-8228-040AEF68617F}" type="presParOf" srcId="{ADAD6769-21E5-4040-B23B-31ED1323E925}" destId="{AD5D4B0E-ACE9-4D84-956F-BD52D80A3520}" srcOrd="0" destOrd="0" presId="urn:microsoft.com/office/officeart/2005/8/layout/hierarchy1"/>
    <dgm:cxn modelId="{C74B5523-5E34-4001-B6F6-69182E827AE2}" type="presParOf" srcId="{ADAD6769-21E5-4040-B23B-31ED1323E925}" destId="{7C5E7878-B769-4E46-A70A-BAD628F93062}" srcOrd="1" destOrd="0" presId="urn:microsoft.com/office/officeart/2005/8/layout/hierarchy1"/>
    <dgm:cxn modelId="{B5DAFA94-935C-46CA-9809-FACF4C94061E}" type="presParOf" srcId="{B043BC71-5197-47F4-B9F1-EB2A37104176}" destId="{85F9B594-7FC0-45FB-AD6A-A94B592F08D9}" srcOrd="1" destOrd="0" presId="urn:microsoft.com/office/officeart/2005/8/layout/hierarchy1"/>
    <dgm:cxn modelId="{C93B0E1F-57E1-4B28-969B-FE2B6CD97ED2}" type="presParOf" srcId="{8053C168-860E-467E-8D1D-2B504FBA539B}" destId="{265BDC11-202F-405B-A10D-D8D1C5737D2E}" srcOrd="1" destOrd="0" presId="urn:microsoft.com/office/officeart/2005/8/layout/hierarchy1"/>
    <dgm:cxn modelId="{ABC04D4C-2C66-473E-893C-A946DDD2CCD6}" type="presParOf" srcId="{265BDC11-202F-405B-A10D-D8D1C5737D2E}" destId="{BFDA4977-8B02-49D3-BBDD-81A3A820C0D4}" srcOrd="0" destOrd="0" presId="urn:microsoft.com/office/officeart/2005/8/layout/hierarchy1"/>
    <dgm:cxn modelId="{FF3F3CE4-6EB7-42B4-B4FD-404591837B32}" type="presParOf" srcId="{BFDA4977-8B02-49D3-BBDD-81A3A820C0D4}" destId="{FC01E382-4BA7-4553-8072-2D2B46B1E1AC}" srcOrd="0" destOrd="0" presId="urn:microsoft.com/office/officeart/2005/8/layout/hierarchy1"/>
    <dgm:cxn modelId="{0E9E89A5-7E96-4C6F-BE5F-1A1DC1085BA6}" type="presParOf" srcId="{BFDA4977-8B02-49D3-BBDD-81A3A820C0D4}" destId="{11C731AF-D541-4B51-AE56-C00DF549DD32}" srcOrd="1" destOrd="0" presId="urn:microsoft.com/office/officeart/2005/8/layout/hierarchy1"/>
    <dgm:cxn modelId="{D9476CD5-0979-4DA2-8973-E7C11DB88B1C}" type="presParOf" srcId="{265BDC11-202F-405B-A10D-D8D1C5737D2E}" destId="{6883DF02-F1E5-41AC-9DC4-380185DB954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B967DE-C459-47BB-AAC7-DA9FE56A248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D1EFD94-97E0-46DD-A655-75D511470517}">
      <dgm:prSet/>
      <dgm:spPr/>
      <dgm:t>
        <a:bodyPr/>
        <a:lstStyle/>
        <a:p>
          <a:r>
            <a:rPr lang="en-US"/>
            <a:t>▪  Prices vary 10–100× across zip codes in the same metro area</a:t>
          </a:r>
        </a:p>
      </dgm:t>
    </dgm:pt>
    <dgm:pt modelId="{292CCB77-84AB-4019-ABCD-8710446C41B5}" type="parTrans" cxnId="{59577D4B-4434-4D49-8E9B-EDE1A52C716E}">
      <dgm:prSet/>
      <dgm:spPr/>
      <dgm:t>
        <a:bodyPr/>
        <a:lstStyle/>
        <a:p>
          <a:endParaRPr lang="en-US"/>
        </a:p>
      </dgm:t>
    </dgm:pt>
    <dgm:pt modelId="{D53CF95B-D1A4-4121-859B-A55685096861}" type="sibTrans" cxnId="{59577D4B-4434-4D49-8E9B-EDE1A52C716E}">
      <dgm:prSet/>
      <dgm:spPr/>
      <dgm:t>
        <a:bodyPr/>
        <a:lstStyle/>
        <a:p>
          <a:endParaRPr lang="en-US"/>
        </a:p>
      </dgm:t>
    </dgm:pt>
    <dgm:pt modelId="{F87C4891-473C-444A-870C-B7BA27B3090B}">
      <dgm:prSet/>
      <dgm:spPr/>
      <dgm:t>
        <a:bodyPr/>
        <a:lstStyle/>
        <a:p>
          <a:r>
            <a:rPr lang="en-US"/>
            <a:t>▪  Structural features (sqft, beds) explain only ~28% of price variance alone</a:t>
          </a:r>
        </a:p>
      </dgm:t>
    </dgm:pt>
    <dgm:pt modelId="{3274A5B5-28C1-4776-8A17-F6A77EBD8CD3}" type="parTrans" cxnId="{44849BFE-CE99-46C1-A94A-785844B77C72}">
      <dgm:prSet/>
      <dgm:spPr/>
      <dgm:t>
        <a:bodyPr/>
        <a:lstStyle/>
        <a:p>
          <a:endParaRPr lang="en-US"/>
        </a:p>
      </dgm:t>
    </dgm:pt>
    <dgm:pt modelId="{0BE6802F-EB71-4C11-B810-D2D830584DDB}" type="sibTrans" cxnId="{44849BFE-CE99-46C1-A94A-785844B77C72}">
      <dgm:prSet/>
      <dgm:spPr/>
      <dgm:t>
        <a:bodyPr/>
        <a:lstStyle/>
        <a:p>
          <a:endParaRPr lang="en-US"/>
        </a:p>
      </dgm:t>
    </dgm:pt>
    <dgm:pt modelId="{D3F6E3DA-2A58-4642-89B2-EE6C0BA0C4FE}">
      <dgm:prSet/>
      <dgm:spPr/>
      <dgm:t>
        <a:bodyPr/>
        <a:lstStyle/>
        <a:p>
          <a:r>
            <a:rPr lang="en-US"/>
            <a:t>▪  Premium markets are sparse in training data — models underfit above $600k</a:t>
          </a:r>
        </a:p>
      </dgm:t>
    </dgm:pt>
    <dgm:pt modelId="{3155E738-8B7E-49C5-8653-6AA3C7D89E90}" type="parTrans" cxnId="{3E5014CB-4226-4B3F-8173-B54917B0074A}">
      <dgm:prSet/>
      <dgm:spPr/>
      <dgm:t>
        <a:bodyPr/>
        <a:lstStyle/>
        <a:p>
          <a:endParaRPr lang="en-US"/>
        </a:p>
      </dgm:t>
    </dgm:pt>
    <dgm:pt modelId="{3C15F983-7AB9-49CB-9ABF-166E8B06FBEC}" type="sibTrans" cxnId="{3E5014CB-4226-4B3F-8173-B54917B0074A}">
      <dgm:prSet/>
      <dgm:spPr/>
      <dgm:t>
        <a:bodyPr/>
        <a:lstStyle/>
        <a:p>
          <a:endParaRPr lang="en-US"/>
        </a:p>
      </dgm:t>
    </dgm:pt>
    <dgm:pt modelId="{04395D52-DCA0-4618-B1A0-3CA68F177867}">
      <dgm:prSet/>
      <dgm:spPr/>
      <dgm:t>
        <a:bodyPr/>
        <a:lstStyle/>
        <a:p>
          <a:r>
            <a:rPr lang="en-US"/>
            <a:t>▪  No single signal is reliable: AVM APIs miss luxury comps, Zillow requires exact addresses</a:t>
          </a:r>
        </a:p>
      </dgm:t>
    </dgm:pt>
    <dgm:pt modelId="{AFCC2B3D-0517-4A94-AD56-5ACAE75BDFDE}" type="parTrans" cxnId="{41AC23DC-4991-4195-ACA3-EC71DB0C370B}">
      <dgm:prSet/>
      <dgm:spPr/>
      <dgm:t>
        <a:bodyPr/>
        <a:lstStyle/>
        <a:p>
          <a:endParaRPr lang="en-US"/>
        </a:p>
      </dgm:t>
    </dgm:pt>
    <dgm:pt modelId="{788B5BC0-49E6-41B2-8704-58D13EA16A85}" type="sibTrans" cxnId="{41AC23DC-4991-4195-ACA3-EC71DB0C370B}">
      <dgm:prSet/>
      <dgm:spPr/>
      <dgm:t>
        <a:bodyPr/>
        <a:lstStyle/>
        <a:p>
          <a:endParaRPr lang="en-US"/>
        </a:p>
      </dgm:t>
    </dgm:pt>
    <dgm:pt modelId="{015F72A5-C481-4974-95DC-CD00ADBFB3CF}">
      <dgm:prSet/>
      <dgm:spPr/>
      <dgm:t>
        <a:bodyPr/>
        <a:lstStyle/>
        <a:p>
          <a:r>
            <a:rPr lang="en-US"/>
            <a:t>▪  Visual condition (renovated vs dated) can shift value by 10–15% yet isn't captured in tabular data</a:t>
          </a:r>
        </a:p>
      </dgm:t>
    </dgm:pt>
    <dgm:pt modelId="{3CD82A33-70A8-4236-BEBA-EC0E48D994A6}" type="parTrans" cxnId="{02253F35-EA7F-46AA-948B-A6DB06195558}">
      <dgm:prSet/>
      <dgm:spPr/>
      <dgm:t>
        <a:bodyPr/>
        <a:lstStyle/>
        <a:p>
          <a:endParaRPr lang="en-US"/>
        </a:p>
      </dgm:t>
    </dgm:pt>
    <dgm:pt modelId="{0A3DBBE8-AF12-44FB-9E7C-7596CBFD8627}" type="sibTrans" cxnId="{02253F35-EA7F-46AA-948B-A6DB06195558}">
      <dgm:prSet/>
      <dgm:spPr/>
      <dgm:t>
        <a:bodyPr/>
        <a:lstStyle/>
        <a:p>
          <a:endParaRPr lang="en-US"/>
        </a:p>
      </dgm:t>
    </dgm:pt>
    <dgm:pt modelId="{B9DB4B98-6D26-4ADA-B184-480594C189CF}" type="pres">
      <dgm:prSet presAssocID="{81B967DE-C459-47BB-AAC7-DA9FE56A248C}" presName="linear" presStyleCnt="0">
        <dgm:presLayoutVars>
          <dgm:animLvl val="lvl"/>
          <dgm:resizeHandles val="exact"/>
        </dgm:presLayoutVars>
      </dgm:prSet>
      <dgm:spPr/>
    </dgm:pt>
    <dgm:pt modelId="{BB0D8E76-533D-434E-AA58-976F67ACEDBD}" type="pres">
      <dgm:prSet presAssocID="{FD1EFD94-97E0-46DD-A655-75D511470517}" presName="parentText" presStyleLbl="node1" presStyleIdx="0" presStyleCnt="5">
        <dgm:presLayoutVars>
          <dgm:chMax val="0"/>
          <dgm:bulletEnabled val="1"/>
        </dgm:presLayoutVars>
      </dgm:prSet>
      <dgm:spPr/>
    </dgm:pt>
    <dgm:pt modelId="{C57E027E-9420-40F7-8048-DB09085FCC28}" type="pres">
      <dgm:prSet presAssocID="{D53CF95B-D1A4-4121-859B-A55685096861}" presName="spacer" presStyleCnt="0"/>
      <dgm:spPr/>
    </dgm:pt>
    <dgm:pt modelId="{7D1D80B0-F275-4857-9E43-F95A4E3E8A5F}" type="pres">
      <dgm:prSet presAssocID="{F87C4891-473C-444A-870C-B7BA27B3090B}" presName="parentText" presStyleLbl="node1" presStyleIdx="1" presStyleCnt="5">
        <dgm:presLayoutVars>
          <dgm:chMax val="0"/>
          <dgm:bulletEnabled val="1"/>
        </dgm:presLayoutVars>
      </dgm:prSet>
      <dgm:spPr/>
    </dgm:pt>
    <dgm:pt modelId="{B65466F8-7C04-48BE-9B78-123DD1EEF397}" type="pres">
      <dgm:prSet presAssocID="{0BE6802F-EB71-4C11-B810-D2D830584DDB}" presName="spacer" presStyleCnt="0"/>
      <dgm:spPr/>
    </dgm:pt>
    <dgm:pt modelId="{BB97AD6E-5BE5-42E9-9DA6-218D17239170}" type="pres">
      <dgm:prSet presAssocID="{D3F6E3DA-2A58-4642-89B2-EE6C0BA0C4FE}" presName="parentText" presStyleLbl="node1" presStyleIdx="2" presStyleCnt="5">
        <dgm:presLayoutVars>
          <dgm:chMax val="0"/>
          <dgm:bulletEnabled val="1"/>
        </dgm:presLayoutVars>
      </dgm:prSet>
      <dgm:spPr/>
    </dgm:pt>
    <dgm:pt modelId="{978C78E5-54DC-4EE7-8E8C-F4A08F9BEAF0}" type="pres">
      <dgm:prSet presAssocID="{3C15F983-7AB9-49CB-9ABF-166E8B06FBEC}" presName="spacer" presStyleCnt="0"/>
      <dgm:spPr/>
    </dgm:pt>
    <dgm:pt modelId="{E8CF25DB-157D-4795-B0FF-D0660DAB1B8E}" type="pres">
      <dgm:prSet presAssocID="{04395D52-DCA0-4618-B1A0-3CA68F177867}" presName="parentText" presStyleLbl="node1" presStyleIdx="3" presStyleCnt="5">
        <dgm:presLayoutVars>
          <dgm:chMax val="0"/>
          <dgm:bulletEnabled val="1"/>
        </dgm:presLayoutVars>
      </dgm:prSet>
      <dgm:spPr/>
    </dgm:pt>
    <dgm:pt modelId="{684D2DB7-43B1-4E02-9F63-718F10186869}" type="pres">
      <dgm:prSet presAssocID="{788B5BC0-49E6-41B2-8704-58D13EA16A85}" presName="spacer" presStyleCnt="0"/>
      <dgm:spPr/>
    </dgm:pt>
    <dgm:pt modelId="{B142688C-411B-43B3-B671-A0BD837E0431}" type="pres">
      <dgm:prSet presAssocID="{015F72A5-C481-4974-95DC-CD00ADBFB3CF}" presName="parentText" presStyleLbl="node1" presStyleIdx="4" presStyleCnt="5">
        <dgm:presLayoutVars>
          <dgm:chMax val="0"/>
          <dgm:bulletEnabled val="1"/>
        </dgm:presLayoutVars>
      </dgm:prSet>
      <dgm:spPr/>
    </dgm:pt>
  </dgm:ptLst>
  <dgm:cxnLst>
    <dgm:cxn modelId="{AD351E19-C3B7-4F98-833E-4464D105CE26}" type="presOf" srcId="{015F72A5-C481-4974-95DC-CD00ADBFB3CF}" destId="{B142688C-411B-43B3-B671-A0BD837E0431}" srcOrd="0" destOrd="0" presId="urn:microsoft.com/office/officeart/2005/8/layout/vList2"/>
    <dgm:cxn modelId="{EB589C26-C98A-445E-913A-DA248677E988}" type="presOf" srcId="{04395D52-DCA0-4618-B1A0-3CA68F177867}" destId="{E8CF25DB-157D-4795-B0FF-D0660DAB1B8E}" srcOrd="0" destOrd="0" presId="urn:microsoft.com/office/officeart/2005/8/layout/vList2"/>
    <dgm:cxn modelId="{02253F35-EA7F-46AA-948B-A6DB06195558}" srcId="{81B967DE-C459-47BB-AAC7-DA9FE56A248C}" destId="{015F72A5-C481-4974-95DC-CD00ADBFB3CF}" srcOrd="4" destOrd="0" parTransId="{3CD82A33-70A8-4236-BEBA-EC0E48D994A6}" sibTransId="{0A3DBBE8-AF12-44FB-9E7C-7596CBFD8627}"/>
    <dgm:cxn modelId="{BCC6CB61-E115-485B-90ED-B8E871809FAF}" type="presOf" srcId="{D3F6E3DA-2A58-4642-89B2-EE6C0BA0C4FE}" destId="{BB97AD6E-5BE5-42E9-9DA6-218D17239170}" srcOrd="0" destOrd="0" presId="urn:microsoft.com/office/officeart/2005/8/layout/vList2"/>
    <dgm:cxn modelId="{6FB4D56A-55FA-42FD-84DD-5B78D9457A85}" type="presOf" srcId="{FD1EFD94-97E0-46DD-A655-75D511470517}" destId="{BB0D8E76-533D-434E-AA58-976F67ACEDBD}" srcOrd="0" destOrd="0" presId="urn:microsoft.com/office/officeart/2005/8/layout/vList2"/>
    <dgm:cxn modelId="{59577D4B-4434-4D49-8E9B-EDE1A52C716E}" srcId="{81B967DE-C459-47BB-AAC7-DA9FE56A248C}" destId="{FD1EFD94-97E0-46DD-A655-75D511470517}" srcOrd="0" destOrd="0" parTransId="{292CCB77-84AB-4019-ABCD-8710446C41B5}" sibTransId="{D53CF95B-D1A4-4121-859B-A55685096861}"/>
    <dgm:cxn modelId="{1003FBB4-F73C-4951-A8C1-746278B82CC8}" type="presOf" srcId="{F87C4891-473C-444A-870C-B7BA27B3090B}" destId="{7D1D80B0-F275-4857-9E43-F95A4E3E8A5F}" srcOrd="0" destOrd="0" presId="urn:microsoft.com/office/officeart/2005/8/layout/vList2"/>
    <dgm:cxn modelId="{3E5014CB-4226-4B3F-8173-B54917B0074A}" srcId="{81B967DE-C459-47BB-AAC7-DA9FE56A248C}" destId="{D3F6E3DA-2A58-4642-89B2-EE6C0BA0C4FE}" srcOrd="2" destOrd="0" parTransId="{3155E738-8B7E-49C5-8653-6AA3C7D89E90}" sibTransId="{3C15F983-7AB9-49CB-9ABF-166E8B06FBEC}"/>
    <dgm:cxn modelId="{41AC23DC-4991-4195-ACA3-EC71DB0C370B}" srcId="{81B967DE-C459-47BB-AAC7-DA9FE56A248C}" destId="{04395D52-DCA0-4618-B1A0-3CA68F177867}" srcOrd="3" destOrd="0" parTransId="{AFCC2B3D-0517-4A94-AD56-5ACAE75BDFDE}" sibTransId="{788B5BC0-49E6-41B2-8704-58D13EA16A85}"/>
    <dgm:cxn modelId="{80F754DC-507C-4265-B348-C7906CF42D0F}" type="presOf" srcId="{81B967DE-C459-47BB-AAC7-DA9FE56A248C}" destId="{B9DB4B98-6D26-4ADA-B184-480594C189CF}" srcOrd="0" destOrd="0" presId="urn:microsoft.com/office/officeart/2005/8/layout/vList2"/>
    <dgm:cxn modelId="{44849BFE-CE99-46C1-A94A-785844B77C72}" srcId="{81B967DE-C459-47BB-AAC7-DA9FE56A248C}" destId="{F87C4891-473C-444A-870C-B7BA27B3090B}" srcOrd="1" destOrd="0" parTransId="{3274A5B5-28C1-4776-8A17-F6A77EBD8CD3}" sibTransId="{0BE6802F-EB71-4C11-B810-D2D830584DDB}"/>
    <dgm:cxn modelId="{4353E21C-8602-4ED5-AD9F-A83864E047A0}" type="presParOf" srcId="{B9DB4B98-6D26-4ADA-B184-480594C189CF}" destId="{BB0D8E76-533D-434E-AA58-976F67ACEDBD}" srcOrd="0" destOrd="0" presId="urn:microsoft.com/office/officeart/2005/8/layout/vList2"/>
    <dgm:cxn modelId="{FF1C12B0-C345-4AD7-A45B-FFE23BCA7F67}" type="presParOf" srcId="{B9DB4B98-6D26-4ADA-B184-480594C189CF}" destId="{C57E027E-9420-40F7-8048-DB09085FCC28}" srcOrd="1" destOrd="0" presId="urn:microsoft.com/office/officeart/2005/8/layout/vList2"/>
    <dgm:cxn modelId="{8F0868B1-A99A-466B-985E-95392EC73E77}" type="presParOf" srcId="{B9DB4B98-6D26-4ADA-B184-480594C189CF}" destId="{7D1D80B0-F275-4857-9E43-F95A4E3E8A5F}" srcOrd="2" destOrd="0" presId="urn:microsoft.com/office/officeart/2005/8/layout/vList2"/>
    <dgm:cxn modelId="{775A9296-273C-44AB-9C54-542B86D04C5F}" type="presParOf" srcId="{B9DB4B98-6D26-4ADA-B184-480594C189CF}" destId="{B65466F8-7C04-48BE-9B78-123DD1EEF397}" srcOrd="3" destOrd="0" presId="urn:microsoft.com/office/officeart/2005/8/layout/vList2"/>
    <dgm:cxn modelId="{8B8E1265-730C-4AE0-90CC-D10DC0F64DD4}" type="presParOf" srcId="{B9DB4B98-6D26-4ADA-B184-480594C189CF}" destId="{BB97AD6E-5BE5-42E9-9DA6-218D17239170}" srcOrd="4" destOrd="0" presId="urn:microsoft.com/office/officeart/2005/8/layout/vList2"/>
    <dgm:cxn modelId="{1095141D-A1B6-4BB6-93AB-AF48BED76930}" type="presParOf" srcId="{B9DB4B98-6D26-4ADA-B184-480594C189CF}" destId="{978C78E5-54DC-4EE7-8E8C-F4A08F9BEAF0}" srcOrd="5" destOrd="0" presId="urn:microsoft.com/office/officeart/2005/8/layout/vList2"/>
    <dgm:cxn modelId="{D5B34B12-09AD-4DD5-B385-E46B9ECF7933}" type="presParOf" srcId="{B9DB4B98-6D26-4ADA-B184-480594C189CF}" destId="{E8CF25DB-157D-4795-B0FF-D0660DAB1B8E}" srcOrd="6" destOrd="0" presId="urn:microsoft.com/office/officeart/2005/8/layout/vList2"/>
    <dgm:cxn modelId="{422A99EB-A8D0-4B8A-B0B9-126537E13453}" type="presParOf" srcId="{B9DB4B98-6D26-4ADA-B184-480594C189CF}" destId="{684D2DB7-43B1-4E02-9F63-718F10186869}" srcOrd="7" destOrd="0" presId="urn:microsoft.com/office/officeart/2005/8/layout/vList2"/>
    <dgm:cxn modelId="{9131F849-3589-4388-A029-AC92EBE21A8A}" type="presParOf" srcId="{B9DB4B98-6D26-4ADA-B184-480594C189CF}" destId="{B142688C-411B-43B3-B671-A0BD837E0431}"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5D4B0E-ACE9-4D84-956F-BD52D80A3520}">
      <dsp:nvSpPr>
        <dsp:cNvPr id="0" name=""/>
        <dsp:cNvSpPr/>
      </dsp:nvSpPr>
      <dsp:spPr>
        <a:xfrm>
          <a:off x="1000" y="83237"/>
          <a:ext cx="3511658" cy="22299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5E7878-B769-4E46-A70A-BAD628F93062}">
      <dsp:nvSpPr>
        <dsp:cNvPr id="0" name=""/>
        <dsp:cNvSpPr/>
      </dsp:nvSpPr>
      <dsp:spPr>
        <a:xfrm>
          <a:off x="391184" y="453912"/>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Classical Approach (Hedonic Pricing / Linear Regression):Early work modeled housing prices as a linear combination of features such as square footage, number of rooms, and location. A well-known example is the Boston Housing Dataset, which demonstrated how statistical models can capture basic relationships but struggle with nonlinear patterns.</a:t>
          </a:r>
        </a:p>
      </dsp:txBody>
      <dsp:txXfrm>
        <a:off x="456496" y="519224"/>
        <a:ext cx="3381034" cy="2099279"/>
      </dsp:txXfrm>
    </dsp:sp>
    <dsp:sp modelId="{FC01E382-4BA7-4553-8072-2D2B46B1E1AC}">
      <dsp:nvSpPr>
        <dsp:cNvPr id="0" name=""/>
        <dsp:cNvSpPr/>
      </dsp:nvSpPr>
      <dsp:spPr>
        <a:xfrm>
          <a:off x="4293027" y="83237"/>
          <a:ext cx="3511658" cy="222990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C731AF-D541-4B51-AE56-C00DF549DD32}">
      <dsp:nvSpPr>
        <dsp:cNvPr id="0" name=""/>
        <dsp:cNvSpPr/>
      </dsp:nvSpPr>
      <dsp:spPr>
        <a:xfrm>
          <a:off x="4683211" y="453912"/>
          <a:ext cx="3511658" cy="222990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Modern Approach (Tree-Based Machine Learning):More recent studies use advanced Machine Learning models such as Random Forest and Gradient Boosting (e.g., XGBoost). These methods outperform linear models by capturing complex interactions between features and handling large, real-world datasets like Zillow Housing Data.</a:t>
          </a:r>
        </a:p>
      </dsp:txBody>
      <dsp:txXfrm>
        <a:off x="4748523" y="519224"/>
        <a:ext cx="3381034" cy="20992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0D8E76-533D-434E-AA58-976F67ACEDBD}">
      <dsp:nvSpPr>
        <dsp:cNvPr id="0" name=""/>
        <dsp:cNvSpPr/>
      </dsp:nvSpPr>
      <dsp:spPr>
        <a:xfrm>
          <a:off x="0" y="78638"/>
          <a:ext cx="4160520" cy="4369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  Prices vary 10–100× across zip codes in the same metro area</a:t>
          </a:r>
        </a:p>
      </dsp:txBody>
      <dsp:txXfrm>
        <a:off x="21331" y="99969"/>
        <a:ext cx="4117858" cy="394314"/>
      </dsp:txXfrm>
    </dsp:sp>
    <dsp:sp modelId="{7D1D80B0-F275-4857-9E43-F95A4E3E8A5F}">
      <dsp:nvSpPr>
        <dsp:cNvPr id="0" name=""/>
        <dsp:cNvSpPr/>
      </dsp:nvSpPr>
      <dsp:spPr>
        <a:xfrm>
          <a:off x="0" y="547294"/>
          <a:ext cx="4160520" cy="4369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  Structural features (sqft, beds) explain only ~28% of price variance alone</a:t>
          </a:r>
        </a:p>
      </dsp:txBody>
      <dsp:txXfrm>
        <a:off x="21331" y="568625"/>
        <a:ext cx="4117858" cy="394314"/>
      </dsp:txXfrm>
    </dsp:sp>
    <dsp:sp modelId="{BB97AD6E-5BE5-42E9-9DA6-218D17239170}">
      <dsp:nvSpPr>
        <dsp:cNvPr id="0" name=""/>
        <dsp:cNvSpPr/>
      </dsp:nvSpPr>
      <dsp:spPr>
        <a:xfrm>
          <a:off x="0" y="1015951"/>
          <a:ext cx="4160520" cy="4369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  Premium markets are sparse in training data — models underfit above $600k</a:t>
          </a:r>
        </a:p>
      </dsp:txBody>
      <dsp:txXfrm>
        <a:off x="21331" y="1037282"/>
        <a:ext cx="4117858" cy="394314"/>
      </dsp:txXfrm>
    </dsp:sp>
    <dsp:sp modelId="{E8CF25DB-157D-4795-B0FF-D0660DAB1B8E}">
      <dsp:nvSpPr>
        <dsp:cNvPr id="0" name=""/>
        <dsp:cNvSpPr/>
      </dsp:nvSpPr>
      <dsp:spPr>
        <a:xfrm>
          <a:off x="0" y="1484608"/>
          <a:ext cx="4160520" cy="4369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  No single signal is reliable: AVM APIs miss luxury comps, Zillow requires exact addresses</a:t>
          </a:r>
        </a:p>
      </dsp:txBody>
      <dsp:txXfrm>
        <a:off x="21331" y="1505939"/>
        <a:ext cx="4117858" cy="394314"/>
      </dsp:txXfrm>
    </dsp:sp>
    <dsp:sp modelId="{B142688C-411B-43B3-B671-A0BD837E0431}">
      <dsp:nvSpPr>
        <dsp:cNvPr id="0" name=""/>
        <dsp:cNvSpPr/>
      </dsp:nvSpPr>
      <dsp:spPr>
        <a:xfrm>
          <a:off x="0" y="1953265"/>
          <a:ext cx="4160520" cy="43697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US" sz="1100" kern="1200"/>
            <a:t>▪  Visual condition (renovated vs dated) can shift value by 10–15% yet isn't captured in tabular data</a:t>
          </a:r>
        </a:p>
      </dsp:txBody>
      <dsp:txXfrm>
        <a:off x="21331" y="1974596"/>
        <a:ext cx="4117858" cy="39431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9144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47488"/>
            <a:ext cx="9144000" cy="9601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457200" cy="514350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0"/>
            <a:ext cx="54864" cy="514350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097280"/>
            <a:ext cx="6400800" cy="1188720"/>
          </a:xfrm>
          <a:prstGeom prst="rect">
            <a:avLst/>
          </a:prstGeom>
          <a:noFill/>
        </p:spPr>
        <p:txBody>
          <a:bodyPr wrap="square">
            <a:spAutoFit/>
          </a:bodyPr>
          <a:lstStyle/>
          <a:p>
            <a:pPr algn="l"/>
            <a:r>
              <a:rPr sz="3600" b="1" i="0">
                <a:solidFill>
                  <a:srgbClr val="FFFFFF"/>
                </a:solidFill>
                <a:latin typeface="Calibri"/>
              </a:rPr>
              <a:t>Multi-Signal Housing</a:t>
            </a:r>
          </a:p>
          <a:p>
            <a:pPr algn="l"/>
            <a:r>
              <a:rPr sz="3600" b="1" i="0">
                <a:solidFill>
                  <a:srgbClr val="CADCFC"/>
                </a:solidFill>
                <a:latin typeface="Calibri"/>
              </a:rPr>
              <a:t>Price Prediction</a:t>
            </a:r>
          </a:p>
        </p:txBody>
      </p:sp>
      <p:sp>
        <p:nvSpPr>
          <p:cNvPr id="14" name="TextBox 13"/>
          <p:cNvSpPr txBox="1"/>
          <p:nvPr/>
        </p:nvSpPr>
        <p:spPr>
          <a:xfrm>
            <a:off x="685800" y="2377440"/>
            <a:ext cx="7772400" cy="457200"/>
          </a:xfrm>
          <a:prstGeom prst="rect">
            <a:avLst/>
          </a:prstGeom>
          <a:noFill/>
        </p:spPr>
        <p:txBody>
          <a:bodyPr wrap="square">
            <a:spAutoFit/>
          </a:bodyPr>
          <a:lstStyle/>
          <a:p>
            <a:pPr algn="l"/>
            <a:r>
              <a:rPr sz="1500" b="0" i="1">
                <a:solidFill>
                  <a:srgbClr val="CADCFC"/>
                </a:solidFill>
                <a:latin typeface="Calibri"/>
              </a:rPr>
              <a:t>XGBoost Structured Model  ·  RentCast AVM  ·  CLIP Condition Scoring</a:t>
            </a:r>
          </a:p>
        </p:txBody>
      </p:sp>
      <p:sp>
        <p:nvSpPr>
          <p:cNvPr id="15" name="Rectangle 14"/>
          <p:cNvSpPr/>
          <p:nvPr/>
        </p:nvSpPr>
        <p:spPr>
          <a:xfrm>
            <a:off x="685800" y="2907792"/>
            <a:ext cx="5029200" cy="32004"/>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063240"/>
            <a:ext cx="7772400" cy="477054"/>
          </a:xfrm>
          <a:prstGeom prst="rect">
            <a:avLst/>
          </a:prstGeom>
          <a:noFill/>
        </p:spPr>
        <p:txBody>
          <a:bodyPr wrap="square">
            <a:spAutoFit/>
          </a:bodyPr>
          <a:lstStyle/>
          <a:p>
            <a:pPr algn="l"/>
            <a:r>
              <a:rPr sz="1300" b="1" i="0" dirty="0">
                <a:solidFill>
                  <a:srgbClr val="FFFFFF"/>
                </a:solidFill>
                <a:latin typeface="Calibri"/>
              </a:rPr>
              <a:t>Brantson Bui</a:t>
            </a:r>
            <a:r>
              <a:rPr lang="en-US" sz="1300" b="1" i="0" dirty="0">
                <a:solidFill>
                  <a:srgbClr val="FFFFFF"/>
                </a:solidFill>
                <a:latin typeface="Calibri"/>
              </a:rPr>
              <a:t>, </a:t>
            </a:r>
            <a:r>
              <a:rPr lang="en-US" sz="1300" b="1" i="0" dirty="0" err="1">
                <a:solidFill>
                  <a:srgbClr val="FFFFFF"/>
                </a:solidFill>
                <a:latin typeface="Calibri"/>
              </a:rPr>
              <a:t>Hanru</a:t>
            </a:r>
            <a:r>
              <a:rPr lang="en-US" sz="1300" b="1" i="0" dirty="0">
                <a:solidFill>
                  <a:srgbClr val="FFFFFF"/>
                </a:solidFill>
                <a:latin typeface="Calibri"/>
              </a:rPr>
              <a:t> Li</a:t>
            </a:r>
            <a:endParaRPr sz="1300" b="1" i="0" dirty="0">
              <a:solidFill>
                <a:srgbClr val="FFFFFF"/>
              </a:solidFill>
              <a:latin typeface="Calibri"/>
            </a:endParaRPr>
          </a:p>
          <a:p>
            <a:pPr algn="l"/>
            <a:r>
              <a:rPr sz="1200" b="0" i="0" dirty="0">
                <a:solidFill>
                  <a:srgbClr val="CADCFC"/>
                </a:solidFill>
                <a:latin typeface="Calibri"/>
              </a:rPr>
              <a:t>Machine Learning  ·  April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627523"/>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1627995"/>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757985" y="-3757532"/>
            <a:ext cx="1628032"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49ECC12-6F80-9374-1510-30C170489545}"/>
              </a:ext>
            </a:extLst>
          </p:cNvPr>
          <p:cNvSpPr txBox="1"/>
          <p:nvPr/>
        </p:nvSpPr>
        <p:spPr>
          <a:xfrm>
            <a:off x="1037673" y="261648"/>
            <a:ext cx="7288583" cy="1182335"/>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000" b="1" i="0" kern="1200">
                <a:solidFill>
                  <a:srgbClr val="FFFFFF"/>
                </a:solidFill>
                <a:latin typeface="+mj-lt"/>
                <a:ea typeface="+mj-ea"/>
                <a:cs typeface="+mj-cs"/>
              </a:rPr>
              <a:t>Related Works</a:t>
            </a:r>
          </a:p>
        </p:txBody>
      </p:sp>
      <p:graphicFrame>
        <p:nvGraphicFramePr>
          <p:cNvPr id="20" name="TextBox 2">
            <a:extLst>
              <a:ext uri="{FF2B5EF4-FFF2-40B4-BE49-F238E27FC236}">
                <a16:creationId xmlns:a16="http://schemas.microsoft.com/office/drawing/2014/main" id="{87B8C8E2-812D-3421-73F5-259CF8EEA71E}"/>
              </a:ext>
            </a:extLst>
          </p:cNvPr>
          <p:cNvGraphicFramePr/>
          <p:nvPr>
            <p:extLst>
              <p:ext uri="{D42A27DB-BD31-4B8C-83A1-F6EECF244321}">
                <p14:modId xmlns:p14="http://schemas.microsoft.com/office/powerpoint/2010/main" val="1415360565"/>
              </p:ext>
            </p:extLst>
          </p:nvPr>
        </p:nvGraphicFramePr>
        <p:xfrm>
          <a:off x="483042" y="1961984"/>
          <a:ext cx="8195871" cy="2767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68682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The Problem</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960120"/>
            <a:ext cx="4206240" cy="411480"/>
          </a:xfrm>
          <a:prstGeom prst="rect">
            <a:avLst/>
          </a:prstGeom>
          <a:noFill/>
        </p:spPr>
        <p:txBody>
          <a:bodyPr wrap="square">
            <a:spAutoFit/>
          </a:bodyPr>
          <a:lstStyle/>
          <a:p>
            <a:pPr algn="l"/>
            <a:r>
              <a:rPr sz="1400" b="1" i="0">
                <a:solidFill>
                  <a:srgbClr val="0077B6"/>
                </a:solidFill>
                <a:latin typeface="Calibri"/>
              </a:rPr>
              <a:t>Why is housing price estimation hard?</a:t>
            </a:r>
          </a:p>
        </p:txBody>
      </p:sp>
      <p:sp>
        <p:nvSpPr>
          <p:cNvPr id="9" name="Rectangle 8"/>
          <p:cNvSpPr/>
          <p:nvPr/>
        </p:nvSpPr>
        <p:spPr>
          <a:xfrm>
            <a:off x="4983480" y="960120"/>
            <a:ext cx="3749039" cy="11704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11496" y="1051560"/>
            <a:ext cx="1325880" cy="566928"/>
          </a:xfrm>
          <a:prstGeom prst="rect">
            <a:avLst/>
          </a:prstGeom>
          <a:noFill/>
        </p:spPr>
        <p:txBody>
          <a:bodyPr wrap="square">
            <a:spAutoFit/>
          </a:bodyPr>
          <a:lstStyle/>
          <a:p>
            <a:pPr algn="ctr"/>
            <a:r>
              <a:rPr sz="3600" b="1" i="0">
                <a:solidFill>
                  <a:srgbClr val="FFFFFF"/>
                </a:solidFill>
                <a:latin typeface="Calibri"/>
              </a:rPr>
              <a:t>$47T</a:t>
            </a:r>
          </a:p>
        </p:txBody>
      </p:sp>
      <p:sp>
        <p:nvSpPr>
          <p:cNvPr id="11" name="TextBox 10"/>
          <p:cNvSpPr txBox="1"/>
          <p:nvPr/>
        </p:nvSpPr>
        <p:spPr>
          <a:xfrm>
            <a:off x="6492240" y="1106424"/>
            <a:ext cx="2103120" cy="868680"/>
          </a:xfrm>
          <a:prstGeom prst="rect">
            <a:avLst/>
          </a:prstGeom>
          <a:noFill/>
        </p:spPr>
        <p:txBody>
          <a:bodyPr wrap="square">
            <a:spAutoFit/>
          </a:bodyPr>
          <a:lstStyle/>
          <a:p>
            <a:pPr algn="l"/>
            <a:r>
              <a:rPr sz="1250" b="0" i="0">
                <a:solidFill>
                  <a:srgbClr val="CADCFC"/>
                </a:solidFill>
                <a:latin typeface="Calibri"/>
              </a:rPr>
              <a:t>US residential
real estate value</a:t>
            </a:r>
          </a:p>
        </p:txBody>
      </p:sp>
      <p:sp>
        <p:nvSpPr>
          <p:cNvPr id="12" name="Rectangle 11"/>
          <p:cNvSpPr/>
          <p:nvPr/>
        </p:nvSpPr>
        <p:spPr>
          <a:xfrm>
            <a:off x="4983480" y="2258568"/>
            <a:ext cx="3749039" cy="1170432"/>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11496" y="2350008"/>
            <a:ext cx="1325880" cy="566928"/>
          </a:xfrm>
          <a:prstGeom prst="rect">
            <a:avLst/>
          </a:prstGeom>
          <a:noFill/>
        </p:spPr>
        <p:txBody>
          <a:bodyPr wrap="square">
            <a:spAutoFit/>
          </a:bodyPr>
          <a:lstStyle/>
          <a:p>
            <a:pPr algn="ctr"/>
            <a:r>
              <a:rPr sz="3600" b="1" i="0">
                <a:solidFill>
                  <a:srgbClr val="FFFFFF"/>
                </a:solidFill>
                <a:latin typeface="Calibri"/>
              </a:rPr>
              <a:t>28%</a:t>
            </a:r>
          </a:p>
        </p:txBody>
      </p:sp>
      <p:sp>
        <p:nvSpPr>
          <p:cNvPr id="14" name="TextBox 13"/>
          <p:cNvSpPr txBox="1"/>
          <p:nvPr/>
        </p:nvSpPr>
        <p:spPr>
          <a:xfrm>
            <a:off x="6492240" y="2404872"/>
            <a:ext cx="2103120" cy="868680"/>
          </a:xfrm>
          <a:prstGeom prst="rect">
            <a:avLst/>
          </a:prstGeom>
          <a:noFill/>
        </p:spPr>
        <p:txBody>
          <a:bodyPr wrap="square">
            <a:spAutoFit/>
          </a:bodyPr>
          <a:lstStyle/>
          <a:p>
            <a:pPr algn="l"/>
            <a:r>
              <a:rPr sz="1250" b="0" i="0">
                <a:solidFill>
                  <a:srgbClr val="CADCFC"/>
                </a:solidFill>
                <a:latin typeface="Calibri"/>
              </a:rPr>
              <a:t>Price variance from
sqft + beds alone</a:t>
            </a:r>
          </a:p>
        </p:txBody>
      </p:sp>
      <p:sp>
        <p:nvSpPr>
          <p:cNvPr id="15" name="Rectangle 14"/>
          <p:cNvSpPr/>
          <p:nvPr/>
        </p:nvSpPr>
        <p:spPr>
          <a:xfrm>
            <a:off x="4983480" y="3557015"/>
            <a:ext cx="3749039" cy="117043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11496" y="3648456"/>
            <a:ext cx="1325880" cy="566928"/>
          </a:xfrm>
          <a:prstGeom prst="rect">
            <a:avLst/>
          </a:prstGeom>
          <a:noFill/>
        </p:spPr>
        <p:txBody>
          <a:bodyPr wrap="square">
            <a:spAutoFit/>
          </a:bodyPr>
          <a:lstStyle/>
          <a:p>
            <a:pPr algn="ctr"/>
            <a:r>
              <a:rPr sz="3600" b="1" i="0">
                <a:solidFill>
                  <a:srgbClr val="FFFFFF"/>
                </a:solidFill>
                <a:latin typeface="Calibri"/>
              </a:rPr>
              <a:t>3</a:t>
            </a:r>
          </a:p>
        </p:txBody>
      </p:sp>
      <p:sp>
        <p:nvSpPr>
          <p:cNvPr id="17" name="TextBox 16"/>
          <p:cNvSpPr txBox="1"/>
          <p:nvPr/>
        </p:nvSpPr>
        <p:spPr>
          <a:xfrm>
            <a:off x="6492240" y="3703320"/>
            <a:ext cx="2103120" cy="868680"/>
          </a:xfrm>
          <a:prstGeom prst="rect">
            <a:avLst/>
          </a:prstGeom>
          <a:noFill/>
        </p:spPr>
        <p:txBody>
          <a:bodyPr wrap="square">
            <a:spAutoFit/>
          </a:bodyPr>
          <a:lstStyle/>
          <a:p>
            <a:pPr algn="l"/>
            <a:r>
              <a:rPr sz="1250" b="0" i="0">
                <a:solidFill>
                  <a:srgbClr val="CADCFC"/>
                </a:solidFill>
                <a:latin typeface="Calibri"/>
              </a:rPr>
              <a:t>independent signals
in our pipeline</a:t>
            </a:r>
          </a:p>
        </p:txBody>
      </p:sp>
      <p:graphicFrame>
        <p:nvGraphicFramePr>
          <p:cNvPr id="19" name="TextBox 7">
            <a:extLst>
              <a:ext uri="{FF2B5EF4-FFF2-40B4-BE49-F238E27FC236}">
                <a16:creationId xmlns:a16="http://schemas.microsoft.com/office/drawing/2014/main" id="{31A63C20-58B2-B33A-46A9-13BE5DB0EDE8}"/>
              </a:ext>
            </a:extLst>
          </p:cNvPr>
          <p:cNvGraphicFramePr/>
          <p:nvPr/>
        </p:nvGraphicFramePr>
        <p:xfrm>
          <a:off x="411480" y="1353312"/>
          <a:ext cx="4160520" cy="24688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Dataset</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987552"/>
            <a:ext cx="2651760" cy="14173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987552"/>
            <a:ext cx="2651760" cy="822045"/>
          </a:xfrm>
          <a:prstGeom prst="rect">
            <a:avLst/>
          </a:prstGeom>
          <a:noFill/>
        </p:spPr>
        <p:txBody>
          <a:bodyPr wrap="square">
            <a:spAutoFit/>
          </a:bodyPr>
          <a:lstStyle/>
          <a:p>
            <a:pPr algn="ctr"/>
            <a:r>
              <a:rPr sz="4200" b="1">
                <a:solidFill>
                  <a:srgbClr val="FFFFFF"/>
                </a:solidFill>
                <a:latin typeface="Calibri"/>
              </a:rPr>
              <a:t>2.2M</a:t>
            </a:r>
          </a:p>
        </p:txBody>
      </p:sp>
      <p:sp>
        <p:nvSpPr>
          <p:cNvPr id="9" name="TextBox 8"/>
          <p:cNvSpPr txBox="1"/>
          <p:nvPr/>
        </p:nvSpPr>
        <p:spPr>
          <a:xfrm>
            <a:off x="347472" y="1781251"/>
            <a:ext cx="2651760" cy="430887"/>
          </a:xfrm>
          <a:prstGeom prst="rect">
            <a:avLst/>
          </a:prstGeom>
          <a:noFill/>
        </p:spPr>
        <p:txBody>
          <a:bodyPr wrap="square">
            <a:spAutoFit/>
          </a:bodyPr>
          <a:lstStyle/>
          <a:p>
            <a:pPr algn="ctr"/>
            <a:r>
              <a:rPr sz="1100" b="0" dirty="0">
                <a:solidFill>
                  <a:srgbClr val="CADCFC"/>
                </a:solidFill>
                <a:latin typeface="Calibri"/>
              </a:rPr>
              <a:t>homes
across </a:t>
            </a:r>
            <a:r>
              <a:rPr lang="en-US" sz="1100" b="0" dirty="0">
                <a:solidFill>
                  <a:srgbClr val="CADCFC"/>
                </a:solidFill>
                <a:latin typeface="Calibri"/>
              </a:rPr>
              <a:t>54</a:t>
            </a:r>
            <a:r>
              <a:rPr sz="1100" b="0" dirty="0">
                <a:solidFill>
                  <a:srgbClr val="CADCFC"/>
                </a:solidFill>
                <a:latin typeface="Calibri"/>
              </a:rPr>
              <a:t> states</a:t>
            </a:r>
            <a:r>
              <a:rPr lang="en-US" sz="1100" b="0" dirty="0">
                <a:solidFill>
                  <a:srgbClr val="CADCFC"/>
                </a:solidFill>
                <a:latin typeface="Calibri"/>
              </a:rPr>
              <a:t>/territories</a:t>
            </a:r>
            <a:endParaRPr sz="1100" b="0" dirty="0">
              <a:solidFill>
                <a:srgbClr val="CADCFC"/>
              </a:solidFill>
              <a:latin typeface="Calibri"/>
            </a:endParaRPr>
          </a:p>
        </p:txBody>
      </p:sp>
      <p:sp>
        <p:nvSpPr>
          <p:cNvPr id="10" name="Rectangle 9"/>
          <p:cNvSpPr/>
          <p:nvPr/>
        </p:nvSpPr>
        <p:spPr>
          <a:xfrm>
            <a:off x="3200400" y="987552"/>
            <a:ext cx="2651760" cy="141732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987552"/>
            <a:ext cx="2651760" cy="822045"/>
          </a:xfrm>
          <a:prstGeom prst="rect">
            <a:avLst/>
          </a:prstGeom>
          <a:noFill/>
        </p:spPr>
        <p:txBody>
          <a:bodyPr wrap="square">
            <a:spAutoFit/>
          </a:bodyPr>
          <a:lstStyle/>
          <a:p>
            <a:pPr algn="ctr"/>
            <a:r>
              <a:rPr sz="4200" b="1">
                <a:solidFill>
                  <a:srgbClr val="FFFFFF"/>
                </a:solidFill>
                <a:latin typeface="Calibri"/>
              </a:rPr>
              <a:t>40+</a:t>
            </a:r>
          </a:p>
        </p:txBody>
      </p:sp>
      <p:sp>
        <p:nvSpPr>
          <p:cNvPr id="12" name="TextBox 11"/>
          <p:cNvSpPr txBox="1"/>
          <p:nvPr/>
        </p:nvSpPr>
        <p:spPr>
          <a:xfrm>
            <a:off x="3200400" y="1781251"/>
            <a:ext cx="2651760" cy="566928"/>
          </a:xfrm>
          <a:prstGeom prst="rect">
            <a:avLst/>
          </a:prstGeom>
          <a:noFill/>
        </p:spPr>
        <p:txBody>
          <a:bodyPr wrap="square">
            <a:spAutoFit/>
          </a:bodyPr>
          <a:lstStyle/>
          <a:p>
            <a:pPr algn="ctr"/>
            <a:r>
              <a:rPr sz="1100" b="0">
                <a:solidFill>
                  <a:srgbClr val="CADCFC"/>
                </a:solidFill>
                <a:latin typeface="Calibri"/>
              </a:rPr>
              <a:t>features per home
(structural, geographic, amenities)</a:t>
            </a:r>
          </a:p>
        </p:txBody>
      </p:sp>
      <p:sp>
        <p:nvSpPr>
          <p:cNvPr id="13" name="Rectangle 12"/>
          <p:cNvSpPr/>
          <p:nvPr/>
        </p:nvSpPr>
        <p:spPr>
          <a:xfrm>
            <a:off x="6053328" y="987552"/>
            <a:ext cx="2651760" cy="141732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053328" y="987552"/>
            <a:ext cx="2651760" cy="822045"/>
          </a:xfrm>
          <a:prstGeom prst="rect">
            <a:avLst/>
          </a:prstGeom>
          <a:noFill/>
        </p:spPr>
        <p:txBody>
          <a:bodyPr wrap="square">
            <a:spAutoFit/>
          </a:bodyPr>
          <a:lstStyle/>
          <a:p>
            <a:pPr algn="ctr"/>
            <a:r>
              <a:rPr sz="4200" b="1">
                <a:solidFill>
                  <a:srgbClr val="FFFFFF"/>
                </a:solidFill>
                <a:latin typeface="Calibri"/>
              </a:rPr>
              <a:t>3</a:t>
            </a:r>
          </a:p>
        </p:txBody>
      </p:sp>
      <p:sp>
        <p:nvSpPr>
          <p:cNvPr id="15" name="TextBox 14"/>
          <p:cNvSpPr txBox="1"/>
          <p:nvPr/>
        </p:nvSpPr>
        <p:spPr>
          <a:xfrm>
            <a:off x="6053328" y="1781251"/>
            <a:ext cx="2651760" cy="566928"/>
          </a:xfrm>
          <a:prstGeom prst="rect">
            <a:avLst/>
          </a:prstGeom>
          <a:noFill/>
        </p:spPr>
        <p:txBody>
          <a:bodyPr wrap="square">
            <a:spAutoFit/>
          </a:bodyPr>
          <a:lstStyle/>
          <a:p>
            <a:pPr algn="ctr"/>
            <a:r>
              <a:rPr sz="1100" b="0">
                <a:solidFill>
                  <a:srgbClr val="CADCFC"/>
                </a:solidFill>
                <a:latin typeface="Calibri"/>
              </a:rPr>
              <a:t>data sources
merged into unified training set</a:t>
            </a:r>
          </a:p>
        </p:txBody>
      </p:sp>
      <p:sp>
        <p:nvSpPr>
          <p:cNvPr id="16" name="TextBox 15"/>
          <p:cNvSpPr txBox="1"/>
          <p:nvPr/>
        </p:nvSpPr>
        <p:spPr>
          <a:xfrm>
            <a:off x="411480" y="2633472"/>
            <a:ext cx="8321040" cy="347472"/>
          </a:xfrm>
          <a:prstGeom prst="rect">
            <a:avLst/>
          </a:prstGeom>
          <a:noFill/>
        </p:spPr>
        <p:txBody>
          <a:bodyPr wrap="square">
            <a:spAutoFit/>
          </a:bodyPr>
          <a:lstStyle/>
          <a:p>
            <a:pPr algn="l"/>
            <a:r>
              <a:rPr sz="1400" b="1" i="0">
                <a:solidFill>
                  <a:srgbClr val="1A1A2E"/>
                </a:solidFill>
                <a:latin typeface="Calibri"/>
              </a:rPr>
              <a:t>Data Sources</a:t>
            </a:r>
          </a:p>
        </p:txBody>
      </p:sp>
      <p:graphicFrame>
        <p:nvGraphicFramePr>
          <p:cNvPr id="17" name="Table 16"/>
          <p:cNvGraphicFramePr>
            <a:graphicFrameLocks noGrp="1"/>
          </p:cNvGraphicFramePr>
          <p:nvPr>
            <p:extLst>
              <p:ext uri="{D42A27DB-BD31-4B8C-83A1-F6EECF244321}">
                <p14:modId xmlns:p14="http://schemas.microsoft.com/office/powerpoint/2010/main" val="1184600011"/>
              </p:ext>
            </p:extLst>
          </p:nvPr>
        </p:nvGraphicFramePr>
        <p:xfrm>
          <a:off x="347472" y="3017520"/>
          <a:ext cx="8412480" cy="1874519"/>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tblGrid>
              <a:tr h="468629">
                <a:tc>
                  <a:txBody>
                    <a:bodyPr/>
                    <a:lstStyle/>
                    <a:p>
                      <a:pPr algn="ctr"/>
                      <a:r>
                        <a:rPr sz="1100" b="1">
                          <a:solidFill>
                            <a:srgbClr val="FFFFFF"/>
                          </a:solidFill>
                          <a:latin typeface="Calibri"/>
                        </a:rPr>
                        <a:t>Source</a:t>
                      </a:r>
                    </a:p>
                  </a:txBody>
                  <a:tcPr>
                    <a:solidFill>
                      <a:srgbClr val="1E2761"/>
                    </a:solidFill>
                  </a:tcPr>
                </a:tc>
                <a:tc>
                  <a:txBody>
                    <a:bodyPr/>
                    <a:lstStyle/>
                    <a:p>
                      <a:pPr algn="ctr"/>
                      <a:r>
                        <a:rPr sz="1100" b="1">
                          <a:solidFill>
                            <a:srgbClr val="FFFFFF"/>
                          </a:solidFill>
                          <a:latin typeface="Calibri"/>
                        </a:rPr>
                        <a:t>Homes</a:t>
                      </a:r>
                    </a:p>
                  </a:txBody>
                  <a:tcPr>
                    <a:solidFill>
                      <a:srgbClr val="1E2761"/>
                    </a:solidFill>
                  </a:tcPr>
                </a:tc>
                <a:tc>
                  <a:txBody>
                    <a:bodyPr/>
                    <a:lstStyle/>
                    <a:p>
                      <a:pPr algn="ctr"/>
                      <a:r>
                        <a:rPr sz="1100" b="1">
                          <a:solidFill>
                            <a:srgbClr val="FFFFFF"/>
                          </a:solidFill>
                          <a:latin typeface="Calibri"/>
                        </a:rPr>
                        <a:t>Coverage</a:t>
                      </a:r>
                    </a:p>
                  </a:txBody>
                  <a:tcPr>
                    <a:solidFill>
                      <a:srgbClr val="1E2761"/>
                    </a:solidFill>
                  </a:tcPr>
                </a:tc>
                <a:tc>
                  <a:txBody>
                    <a:bodyPr/>
                    <a:lstStyle/>
                    <a:p>
                      <a:pPr algn="ctr"/>
                      <a:r>
                        <a:rPr sz="1100" b="1">
                          <a:solidFill>
                            <a:srgbClr val="FFFFFF"/>
                          </a:solidFill>
                          <a:latin typeface="Calibri"/>
                        </a:rPr>
                        <a:t>Key Fields</a:t>
                      </a:r>
                    </a:p>
                  </a:txBody>
                  <a:tcPr>
                    <a:solidFill>
                      <a:srgbClr val="1E2761"/>
                    </a:solidFill>
                  </a:tcPr>
                </a:tc>
                <a:extLst>
                  <a:ext uri="{0D108BD9-81ED-4DB2-BD59-A6C34878D82A}">
                    <a16:rowId xmlns:a16="http://schemas.microsoft.com/office/drawing/2014/main" val="10000"/>
                  </a:ext>
                </a:extLst>
              </a:tr>
              <a:tr h="468629">
                <a:tc>
                  <a:txBody>
                    <a:bodyPr/>
                    <a:lstStyle/>
                    <a:p>
                      <a:pPr algn="l"/>
                      <a:r>
                        <a:rPr sz="1050">
                          <a:solidFill>
                            <a:srgbClr val="1A1A2E"/>
                          </a:solidFill>
                          <a:latin typeface="Calibri"/>
                        </a:rPr>
                        <a:t>Kaggle Structured Dataset</a:t>
                      </a:r>
                    </a:p>
                  </a:txBody>
                  <a:tcPr>
                    <a:solidFill>
                      <a:srgbClr val="EEF2FF"/>
                    </a:solidFill>
                  </a:tcPr>
                </a:tc>
                <a:tc>
                  <a:txBody>
                    <a:bodyPr/>
                    <a:lstStyle/>
                    <a:p>
                      <a:pPr algn="ctr"/>
                      <a:r>
                        <a:rPr sz="1050">
                          <a:solidFill>
                            <a:srgbClr val="1A1A2E"/>
                          </a:solidFill>
                          <a:latin typeface="Calibri"/>
                        </a:rPr>
                        <a:t>~2.2M</a:t>
                      </a:r>
                    </a:p>
                  </a:txBody>
                  <a:tcPr>
                    <a:solidFill>
                      <a:srgbClr val="EEF2FF"/>
                    </a:solidFill>
                  </a:tcPr>
                </a:tc>
                <a:tc>
                  <a:txBody>
                    <a:bodyPr/>
                    <a:lstStyle/>
                    <a:p>
                      <a:pPr algn="ctr"/>
                      <a:r>
                        <a:rPr sz="1050" dirty="0">
                          <a:solidFill>
                            <a:srgbClr val="1A1A2E"/>
                          </a:solidFill>
                          <a:latin typeface="Calibri"/>
                        </a:rPr>
                        <a:t>54 US states</a:t>
                      </a:r>
                      <a:r>
                        <a:rPr lang="en-US" sz="1050" dirty="0">
                          <a:solidFill>
                            <a:srgbClr val="1A1A2E"/>
                          </a:solidFill>
                          <a:latin typeface="Calibri"/>
                        </a:rPr>
                        <a:t>/</a:t>
                      </a:r>
                      <a:r>
                        <a:rPr lang="en-US" sz="1050" dirty="0" err="1">
                          <a:solidFill>
                            <a:srgbClr val="1A1A2E"/>
                          </a:solidFill>
                          <a:latin typeface="Calibri"/>
                        </a:rPr>
                        <a:t>terrirtories</a:t>
                      </a:r>
                      <a:endParaRPr sz="1050" dirty="0">
                        <a:solidFill>
                          <a:srgbClr val="1A1A2E"/>
                        </a:solidFill>
                        <a:latin typeface="Calibri"/>
                      </a:endParaRPr>
                    </a:p>
                  </a:txBody>
                  <a:tcPr>
                    <a:solidFill>
                      <a:srgbClr val="EEF2FF"/>
                    </a:solidFill>
                  </a:tcPr>
                </a:tc>
                <a:tc>
                  <a:txBody>
                    <a:bodyPr/>
                    <a:lstStyle/>
                    <a:p>
                      <a:pPr algn="ctr"/>
                      <a:r>
                        <a:rPr sz="1050">
                          <a:solidFill>
                            <a:srgbClr val="1A1A2E"/>
                          </a:solidFill>
                          <a:latin typeface="Calibri"/>
                        </a:rPr>
                        <a:t>bed, bath, sqft, city, state, zip, price</a:t>
                      </a:r>
                    </a:p>
                  </a:txBody>
                  <a:tcPr>
                    <a:solidFill>
                      <a:srgbClr val="EEF2FF"/>
                    </a:solidFill>
                  </a:tcPr>
                </a:tc>
                <a:extLst>
                  <a:ext uri="{0D108BD9-81ED-4DB2-BD59-A6C34878D82A}">
                    <a16:rowId xmlns:a16="http://schemas.microsoft.com/office/drawing/2014/main" val="10001"/>
                  </a:ext>
                </a:extLst>
              </a:tr>
              <a:tr h="468629">
                <a:tc>
                  <a:txBody>
                    <a:bodyPr/>
                    <a:lstStyle/>
                    <a:p>
                      <a:pPr algn="l"/>
                      <a:r>
                        <a:rPr sz="1050">
                          <a:solidFill>
                            <a:srgbClr val="1A1A2E"/>
                          </a:solidFill>
                          <a:latin typeface="Calibri"/>
                        </a:rPr>
                        <a:t>Zillow Scraped (non-CA)</a:t>
                      </a:r>
                    </a:p>
                  </a:txBody>
                  <a:tcPr>
                    <a:solidFill>
                      <a:srgbClr val="F0F4FF"/>
                    </a:solidFill>
                  </a:tcPr>
                </a:tc>
                <a:tc>
                  <a:txBody>
                    <a:bodyPr/>
                    <a:lstStyle/>
                    <a:p>
                      <a:pPr algn="ctr"/>
                      <a:r>
                        <a:rPr sz="1050">
                          <a:solidFill>
                            <a:srgbClr val="1A1A2E"/>
                          </a:solidFill>
                          <a:latin typeface="Calibri"/>
                        </a:rPr>
                        <a:t>~4,800</a:t>
                      </a:r>
                    </a:p>
                  </a:txBody>
                  <a:tcPr>
                    <a:solidFill>
                      <a:srgbClr val="F0F4FF"/>
                    </a:solidFill>
                  </a:tcPr>
                </a:tc>
                <a:tc>
                  <a:txBody>
                    <a:bodyPr/>
                    <a:lstStyle/>
                    <a:p>
                      <a:pPr algn="ctr"/>
                      <a:r>
                        <a:rPr sz="1050">
                          <a:solidFill>
                            <a:srgbClr val="1A1A2E"/>
                          </a:solidFill>
                          <a:latin typeface="Calibri"/>
                        </a:rPr>
                        <a:t>20+ states</a:t>
                      </a:r>
                    </a:p>
                  </a:txBody>
                  <a:tcPr>
                    <a:solidFill>
                      <a:srgbClr val="F0F4FF"/>
                    </a:solidFill>
                  </a:tcPr>
                </a:tc>
                <a:tc>
                  <a:txBody>
                    <a:bodyPr/>
                    <a:lstStyle/>
                    <a:p>
                      <a:pPr algn="ctr"/>
                      <a:r>
                        <a:rPr sz="1050">
                          <a:solidFill>
                            <a:srgbClr val="1A1A2E"/>
                          </a:solidFill>
                          <a:latin typeface="Calibri"/>
                        </a:rPr>
                        <a:t>Address, price, year built, property type</a:t>
                      </a:r>
                    </a:p>
                  </a:txBody>
                  <a:tcPr>
                    <a:solidFill>
                      <a:srgbClr val="F0F4FF"/>
                    </a:solidFill>
                  </a:tcPr>
                </a:tc>
                <a:extLst>
                  <a:ext uri="{0D108BD9-81ED-4DB2-BD59-A6C34878D82A}">
                    <a16:rowId xmlns:a16="http://schemas.microsoft.com/office/drawing/2014/main" val="10002"/>
                  </a:ext>
                </a:extLst>
              </a:tr>
              <a:tr h="468632">
                <a:tc>
                  <a:txBody>
                    <a:bodyPr/>
                    <a:lstStyle/>
                    <a:p>
                      <a:pPr algn="l"/>
                      <a:r>
                        <a:rPr sz="1050">
                          <a:solidFill>
                            <a:srgbClr val="1A1A2E"/>
                          </a:solidFill>
                          <a:latin typeface="Calibri"/>
                        </a:rPr>
                        <a:t>Realty In US API (photos)</a:t>
                      </a:r>
                    </a:p>
                  </a:txBody>
                  <a:tcPr>
                    <a:solidFill>
                      <a:srgbClr val="EEF2FF"/>
                    </a:solidFill>
                  </a:tcPr>
                </a:tc>
                <a:tc>
                  <a:txBody>
                    <a:bodyPr/>
                    <a:lstStyle/>
                    <a:p>
                      <a:pPr algn="ctr"/>
                      <a:r>
                        <a:rPr sz="1050">
                          <a:solidFill>
                            <a:srgbClr val="1A1A2E"/>
                          </a:solidFill>
                          <a:latin typeface="Calibri"/>
                        </a:rPr>
                        <a:t>89</a:t>
                      </a:r>
                    </a:p>
                  </a:txBody>
                  <a:tcPr>
                    <a:solidFill>
                      <a:srgbClr val="EEF2FF"/>
                    </a:solidFill>
                  </a:tcPr>
                </a:tc>
                <a:tc>
                  <a:txBody>
                    <a:bodyPr/>
                    <a:lstStyle/>
                    <a:p>
                      <a:pPr algn="ctr"/>
                      <a:r>
                        <a:rPr sz="1050">
                          <a:solidFill>
                            <a:srgbClr val="1A1A2E"/>
                          </a:solidFill>
                          <a:latin typeface="Calibri"/>
                        </a:rPr>
                        <a:t>39 states</a:t>
                      </a:r>
                    </a:p>
                  </a:txBody>
                  <a:tcPr>
                    <a:solidFill>
                      <a:srgbClr val="EEF2FF"/>
                    </a:solidFill>
                  </a:tcPr>
                </a:tc>
                <a:tc>
                  <a:txBody>
                    <a:bodyPr/>
                    <a:lstStyle/>
                    <a:p>
                      <a:pPr algn="ctr"/>
                      <a:r>
                        <a:rPr sz="1050" dirty="0">
                          <a:solidFill>
                            <a:srgbClr val="1A1A2E"/>
                          </a:solidFill>
                          <a:latin typeface="Calibri"/>
                        </a:rPr>
                        <a:t>Interior photos → CLIP calibration images</a:t>
                      </a:r>
                    </a:p>
                  </a:txBody>
                  <a:tcPr>
                    <a:solidFill>
                      <a:srgbClr val="EEF2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64008"/>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8138160" cy="594360"/>
          </a:xfrm>
          <a:prstGeom prst="rect">
            <a:avLst/>
          </a:prstGeom>
          <a:noFill/>
        </p:spPr>
        <p:txBody>
          <a:bodyPr wrap="square">
            <a:spAutoFit/>
          </a:bodyPr>
          <a:lstStyle/>
          <a:p>
            <a:pPr algn="l"/>
            <a:r>
              <a:rPr sz="2800" b="1" i="0">
                <a:solidFill>
                  <a:srgbClr val="FFFFFF"/>
                </a:solidFill>
                <a:latin typeface="Calibri"/>
              </a:rPr>
              <a:t>Prediction Pipeline</a:t>
            </a:r>
          </a:p>
        </p:txBody>
      </p:sp>
      <p:sp>
        <p:nvSpPr>
          <p:cNvPr id="5" name="Rectangle 4"/>
          <p:cNvSpPr/>
          <p:nvPr/>
        </p:nvSpPr>
        <p:spPr>
          <a:xfrm>
            <a:off x="320040" y="795528"/>
            <a:ext cx="8503920" cy="32004"/>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47472" y="987552"/>
            <a:ext cx="1920240" cy="201168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52144" y="1124712"/>
            <a:ext cx="384048" cy="384048"/>
          </a:xfrm>
          <a:prstGeom prst="ellipse">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1124712"/>
            <a:ext cx="384048" cy="384048"/>
          </a:xfrm>
          <a:prstGeom prst="rect">
            <a:avLst/>
          </a:prstGeom>
          <a:noFill/>
        </p:spPr>
        <p:txBody>
          <a:bodyPr wrap="square">
            <a:spAutoFit/>
          </a:bodyPr>
          <a:lstStyle/>
          <a:p>
            <a:pPr algn="ctr"/>
            <a:r>
              <a:rPr sz="1300" b="1" i="0">
                <a:solidFill>
                  <a:srgbClr val="FFFFFF"/>
                </a:solidFill>
                <a:latin typeface="Calibri"/>
              </a:rPr>
              <a:t>1</a:t>
            </a:r>
          </a:p>
        </p:txBody>
      </p:sp>
      <p:sp>
        <p:nvSpPr>
          <p:cNvPr id="9" name="TextBox 8"/>
          <p:cNvSpPr txBox="1"/>
          <p:nvPr/>
        </p:nvSpPr>
        <p:spPr>
          <a:xfrm>
            <a:off x="457200" y="1627632"/>
            <a:ext cx="1700784" cy="621792"/>
          </a:xfrm>
          <a:prstGeom prst="rect">
            <a:avLst/>
          </a:prstGeom>
          <a:noFill/>
        </p:spPr>
        <p:txBody>
          <a:bodyPr wrap="square">
            <a:spAutoFit/>
          </a:bodyPr>
          <a:lstStyle/>
          <a:p>
            <a:pPr algn="ctr"/>
            <a:r>
              <a:rPr sz="1600" b="1" i="0">
                <a:solidFill>
                  <a:srgbClr val="CADCFC"/>
                </a:solidFill>
                <a:latin typeface="Calibri"/>
              </a:rPr>
              <a:t>Structured
Model</a:t>
            </a:r>
          </a:p>
        </p:txBody>
      </p:sp>
      <p:sp>
        <p:nvSpPr>
          <p:cNvPr id="10" name="TextBox 9"/>
          <p:cNvSpPr txBox="1"/>
          <p:nvPr/>
        </p:nvSpPr>
        <p:spPr>
          <a:xfrm>
            <a:off x="457200" y="2221992"/>
            <a:ext cx="1700784" cy="685800"/>
          </a:xfrm>
          <a:prstGeom prst="rect">
            <a:avLst/>
          </a:prstGeom>
          <a:noFill/>
        </p:spPr>
        <p:txBody>
          <a:bodyPr wrap="square">
            <a:spAutoFit/>
          </a:bodyPr>
          <a:lstStyle/>
          <a:p>
            <a:pPr algn="ctr"/>
            <a:r>
              <a:rPr sz="1050" b="0" i="0">
                <a:solidFill>
                  <a:srgbClr val="B0C4DE"/>
                </a:solidFill>
                <a:latin typeface="Calibri"/>
              </a:rPr>
              <a:t>XGBoost on 40+
features (always)</a:t>
            </a:r>
          </a:p>
        </p:txBody>
      </p:sp>
      <p:sp>
        <p:nvSpPr>
          <p:cNvPr id="11" name="Rectangle 10"/>
          <p:cNvSpPr/>
          <p:nvPr/>
        </p:nvSpPr>
        <p:spPr>
          <a:xfrm>
            <a:off x="2286000" y="2359152"/>
            <a:ext cx="201168" cy="7315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468880" y="2286000"/>
            <a:ext cx="54864" cy="21945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23744" y="987552"/>
            <a:ext cx="1920240" cy="201168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328415" y="1124712"/>
            <a:ext cx="384048" cy="384048"/>
          </a:xfrm>
          <a:prstGeom prst="ellipse">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28415" y="1124712"/>
            <a:ext cx="384048" cy="384048"/>
          </a:xfrm>
          <a:prstGeom prst="rect">
            <a:avLst/>
          </a:prstGeom>
          <a:noFill/>
        </p:spPr>
        <p:txBody>
          <a:bodyPr wrap="square">
            <a:spAutoFit/>
          </a:bodyPr>
          <a:lstStyle/>
          <a:p>
            <a:pPr algn="ctr"/>
            <a:r>
              <a:rPr sz="1300" b="1" i="0">
                <a:solidFill>
                  <a:srgbClr val="FFFFFF"/>
                </a:solidFill>
                <a:latin typeface="Calibri"/>
              </a:rPr>
              <a:t>2</a:t>
            </a:r>
          </a:p>
        </p:txBody>
      </p:sp>
      <p:sp>
        <p:nvSpPr>
          <p:cNvPr id="16" name="TextBox 15"/>
          <p:cNvSpPr txBox="1"/>
          <p:nvPr/>
        </p:nvSpPr>
        <p:spPr>
          <a:xfrm>
            <a:off x="2633472" y="1627632"/>
            <a:ext cx="1700784" cy="621792"/>
          </a:xfrm>
          <a:prstGeom prst="rect">
            <a:avLst/>
          </a:prstGeom>
          <a:noFill/>
        </p:spPr>
        <p:txBody>
          <a:bodyPr wrap="square">
            <a:spAutoFit/>
          </a:bodyPr>
          <a:lstStyle/>
          <a:p>
            <a:pPr algn="ctr"/>
            <a:r>
              <a:rPr sz="1600" b="1" i="0">
                <a:solidFill>
                  <a:srgbClr val="CADCFC"/>
                </a:solidFill>
                <a:latin typeface="Calibri"/>
              </a:rPr>
              <a:t>AVM
Blend</a:t>
            </a:r>
          </a:p>
        </p:txBody>
      </p:sp>
      <p:sp>
        <p:nvSpPr>
          <p:cNvPr id="17" name="TextBox 16"/>
          <p:cNvSpPr txBox="1"/>
          <p:nvPr/>
        </p:nvSpPr>
        <p:spPr>
          <a:xfrm>
            <a:off x="2633472" y="2221992"/>
            <a:ext cx="1700784" cy="685800"/>
          </a:xfrm>
          <a:prstGeom prst="rect">
            <a:avLst/>
          </a:prstGeom>
          <a:noFill/>
        </p:spPr>
        <p:txBody>
          <a:bodyPr wrap="square">
            <a:spAutoFit/>
          </a:bodyPr>
          <a:lstStyle/>
          <a:p>
            <a:pPr algn="ctr"/>
            <a:r>
              <a:rPr sz="1050" b="0" i="0">
                <a:solidFill>
                  <a:srgbClr val="B0C4DE"/>
                </a:solidFill>
                <a:latin typeface="Calibri"/>
              </a:rPr>
              <a:t>RentCast property
estimate (w/ address)</a:t>
            </a:r>
          </a:p>
        </p:txBody>
      </p:sp>
      <p:sp>
        <p:nvSpPr>
          <p:cNvPr id="18" name="Rectangle 17"/>
          <p:cNvSpPr/>
          <p:nvPr/>
        </p:nvSpPr>
        <p:spPr>
          <a:xfrm>
            <a:off x="4462271" y="2359152"/>
            <a:ext cx="201168" cy="7315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645151" y="2286000"/>
            <a:ext cx="54864" cy="21945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00016" y="987552"/>
            <a:ext cx="1920240" cy="201168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504688" y="1124712"/>
            <a:ext cx="384048" cy="384048"/>
          </a:xfrm>
          <a:prstGeom prst="ellipse">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04688" y="1124712"/>
            <a:ext cx="384048" cy="384048"/>
          </a:xfrm>
          <a:prstGeom prst="rect">
            <a:avLst/>
          </a:prstGeom>
          <a:noFill/>
        </p:spPr>
        <p:txBody>
          <a:bodyPr wrap="square">
            <a:spAutoFit/>
          </a:bodyPr>
          <a:lstStyle/>
          <a:p>
            <a:pPr algn="ctr"/>
            <a:r>
              <a:rPr sz="1300" b="1" i="0">
                <a:solidFill>
                  <a:srgbClr val="FFFFFF"/>
                </a:solidFill>
                <a:latin typeface="Calibri"/>
              </a:rPr>
              <a:t>3</a:t>
            </a:r>
          </a:p>
        </p:txBody>
      </p:sp>
      <p:sp>
        <p:nvSpPr>
          <p:cNvPr id="23" name="TextBox 22"/>
          <p:cNvSpPr txBox="1"/>
          <p:nvPr/>
        </p:nvSpPr>
        <p:spPr>
          <a:xfrm>
            <a:off x="4809744" y="1627632"/>
            <a:ext cx="1700784" cy="621792"/>
          </a:xfrm>
          <a:prstGeom prst="rect">
            <a:avLst/>
          </a:prstGeom>
          <a:noFill/>
        </p:spPr>
        <p:txBody>
          <a:bodyPr wrap="square">
            <a:spAutoFit/>
          </a:bodyPr>
          <a:lstStyle/>
          <a:p>
            <a:pPr algn="ctr"/>
            <a:r>
              <a:rPr sz="1600" b="1" i="0">
                <a:solidFill>
                  <a:srgbClr val="CADCFC"/>
                </a:solidFill>
                <a:latin typeface="Calibri"/>
              </a:rPr>
              <a:t>Market
Anchor</a:t>
            </a:r>
          </a:p>
        </p:txBody>
      </p:sp>
      <p:sp>
        <p:nvSpPr>
          <p:cNvPr id="24" name="TextBox 23"/>
          <p:cNvSpPr txBox="1"/>
          <p:nvPr/>
        </p:nvSpPr>
        <p:spPr>
          <a:xfrm>
            <a:off x="4809744" y="2221992"/>
            <a:ext cx="1700784" cy="685800"/>
          </a:xfrm>
          <a:prstGeom prst="rect">
            <a:avLst/>
          </a:prstGeom>
          <a:noFill/>
        </p:spPr>
        <p:txBody>
          <a:bodyPr wrap="square">
            <a:spAutoFit/>
          </a:bodyPr>
          <a:lstStyle/>
          <a:p>
            <a:pPr algn="ctr"/>
            <a:r>
              <a:rPr sz="1050" b="0" i="0">
                <a:solidFill>
                  <a:srgbClr val="B0C4DE"/>
                </a:solidFill>
                <a:latin typeface="Calibri"/>
              </a:rPr>
              <a:t>Zip price/sqft ×
sqft (w/ zip)</a:t>
            </a:r>
          </a:p>
        </p:txBody>
      </p:sp>
      <p:sp>
        <p:nvSpPr>
          <p:cNvPr id="25" name="Rectangle 24"/>
          <p:cNvSpPr/>
          <p:nvPr/>
        </p:nvSpPr>
        <p:spPr>
          <a:xfrm>
            <a:off x="6638544" y="2359152"/>
            <a:ext cx="201168" cy="7315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821424" y="2286000"/>
            <a:ext cx="54864" cy="21945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76288" y="987552"/>
            <a:ext cx="1920240" cy="2011680"/>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680960" y="1124712"/>
            <a:ext cx="384048" cy="384048"/>
          </a:xfrm>
          <a:prstGeom prst="ellipse">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80960" y="1124712"/>
            <a:ext cx="384048" cy="384048"/>
          </a:xfrm>
          <a:prstGeom prst="rect">
            <a:avLst/>
          </a:prstGeom>
          <a:noFill/>
        </p:spPr>
        <p:txBody>
          <a:bodyPr wrap="square">
            <a:spAutoFit/>
          </a:bodyPr>
          <a:lstStyle/>
          <a:p>
            <a:pPr algn="ctr"/>
            <a:r>
              <a:rPr sz="1300" b="1" i="0">
                <a:solidFill>
                  <a:srgbClr val="FFFFFF"/>
                </a:solidFill>
                <a:latin typeface="Calibri"/>
              </a:rPr>
              <a:t>4</a:t>
            </a:r>
          </a:p>
        </p:txBody>
      </p:sp>
      <p:sp>
        <p:nvSpPr>
          <p:cNvPr id="30" name="TextBox 29"/>
          <p:cNvSpPr txBox="1"/>
          <p:nvPr/>
        </p:nvSpPr>
        <p:spPr>
          <a:xfrm>
            <a:off x="6986016" y="1627632"/>
            <a:ext cx="1700784" cy="621792"/>
          </a:xfrm>
          <a:prstGeom prst="rect">
            <a:avLst/>
          </a:prstGeom>
          <a:noFill/>
        </p:spPr>
        <p:txBody>
          <a:bodyPr wrap="square">
            <a:spAutoFit/>
          </a:bodyPr>
          <a:lstStyle/>
          <a:p>
            <a:pPr algn="ctr"/>
            <a:r>
              <a:rPr sz="1600" b="1" i="0">
                <a:solidFill>
                  <a:srgbClr val="CADCFC"/>
                </a:solidFill>
                <a:latin typeface="Calibri"/>
              </a:rPr>
              <a:t>CLIP
Condition</a:t>
            </a:r>
          </a:p>
        </p:txBody>
      </p:sp>
      <p:sp>
        <p:nvSpPr>
          <p:cNvPr id="31" name="TextBox 30"/>
          <p:cNvSpPr txBox="1"/>
          <p:nvPr/>
        </p:nvSpPr>
        <p:spPr>
          <a:xfrm>
            <a:off x="6986016" y="2221992"/>
            <a:ext cx="1700784" cy="685800"/>
          </a:xfrm>
          <a:prstGeom prst="rect">
            <a:avLst/>
          </a:prstGeom>
          <a:noFill/>
        </p:spPr>
        <p:txBody>
          <a:bodyPr wrap="square">
            <a:spAutoFit/>
          </a:bodyPr>
          <a:lstStyle/>
          <a:p>
            <a:pPr algn="ctr"/>
            <a:r>
              <a:rPr sz="1050" b="0" i="0">
                <a:solidFill>
                  <a:srgbClr val="B0C4DE"/>
                </a:solidFill>
                <a:latin typeface="Calibri"/>
              </a:rPr>
              <a:t>ViT-B/32 visual
scoring (w/ photos)</a:t>
            </a:r>
          </a:p>
        </p:txBody>
      </p:sp>
      <p:sp>
        <p:nvSpPr>
          <p:cNvPr id="32" name="Rectangle 31"/>
          <p:cNvSpPr/>
          <p:nvPr/>
        </p:nvSpPr>
        <p:spPr>
          <a:xfrm>
            <a:off x="347472" y="3127248"/>
            <a:ext cx="8458200" cy="64008"/>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200400" y="3246120"/>
            <a:ext cx="2743200" cy="15361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00400" y="3310128"/>
            <a:ext cx="2743200" cy="475488"/>
          </a:xfrm>
          <a:prstGeom prst="rect">
            <a:avLst/>
          </a:prstGeom>
          <a:noFill/>
        </p:spPr>
        <p:txBody>
          <a:bodyPr wrap="square">
            <a:spAutoFit/>
          </a:bodyPr>
          <a:lstStyle/>
          <a:p>
            <a:pPr algn="ctr"/>
            <a:r>
              <a:rPr sz="1500" b="1" i="0">
                <a:solidFill>
                  <a:srgbClr val="FFFFFF"/>
                </a:solidFill>
                <a:latin typeface="Calibri"/>
              </a:rPr>
              <a:t>Final Price Estimate</a:t>
            </a:r>
          </a:p>
        </p:txBody>
      </p:sp>
      <p:sp>
        <p:nvSpPr>
          <p:cNvPr id="35" name="Rectangle 34"/>
          <p:cNvSpPr/>
          <p:nvPr/>
        </p:nvSpPr>
        <p:spPr>
          <a:xfrm>
            <a:off x="3200400" y="3813048"/>
            <a:ext cx="2743200" cy="27432"/>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00400" y="3858768"/>
            <a:ext cx="2743200" cy="777240"/>
          </a:xfrm>
          <a:prstGeom prst="rect">
            <a:avLst/>
          </a:prstGeom>
          <a:noFill/>
        </p:spPr>
        <p:txBody>
          <a:bodyPr wrap="square">
            <a:spAutoFit/>
          </a:bodyPr>
          <a:lstStyle/>
          <a:p>
            <a:pPr algn="ctr"/>
            <a:r>
              <a:rPr sz="1050" b="0" i="0">
                <a:solidFill>
                  <a:srgbClr val="CADCFC"/>
                </a:solidFill>
                <a:latin typeface="Calibri"/>
              </a:rPr>
              <a:t>Signals blended with geography-
aware weights + outlier detection</a:t>
            </a:r>
          </a:p>
        </p:txBody>
      </p:sp>
      <p:sp>
        <p:nvSpPr>
          <p:cNvPr id="37" name="TextBox 36"/>
          <p:cNvSpPr txBox="1"/>
          <p:nvPr/>
        </p:nvSpPr>
        <p:spPr>
          <a:xfrm>
            <a:off x="320040" y="4786884"/>
            <a:ext cx="8458200" cy="365760"/>
          </a:xfrm>
          <a:prstGeom prst="rect">
            <a:avLst/>
          </a:prstGeom>
          <a:noFill/>
        </p:spPr>
        <p:txBody>
          <a:bodyPr wrap="square">
            <a:spAutoFit/>
          </a:bodyPr>
          <a:lstStyle/>
          <a:p>
            <a:pPr algn="l"/>
            <a:r>
              <a:rPr sz="1000" b="0" i="1" dirty="0">
                <a:solidFill>
                  <a:srgbClr val="90A8C8"/>
                </a:solidFill>
                <a:latin typeface="Calibri"/>
              </a:rPr>
              <a:t>Outlier detection fires when AVM + market diverge from structured by &gt;42% log-space → premium boost applied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XGBoost Structured Model</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960120"/>
            <a:ext cx="4114800" cy="347472"/>
          </a:xfrm>
          <a:prstGeom prst="rect">
            <a:avLst/>
          </a:prstGeom>
          <a:noFill/>
        </p:spPr>
        <p:txBody>
          <a:bodyPr wrap="square">
            <a:spAutoFit/>
          </a:bodyPr>
          <a:lstStyle/>
          <a:p>
            <a:pPr algn="l"/>
            <a:r>
              <a:rPr sz="1300" b="1" i="0">
                <a:solidFill>
                  <a:srgbClr val="0077B6"/>
                </a:solidFill>
                <a:latin typeface="Calibri"/>
              </a:rPr>
              <a:t>Feature Engineering (40+ features)</a:t>
            </a:r>
          </a:p>
        </p:txBody>
      </p:sp>
      <p:sp>
        <p:nvSpPr>
          <p:cNvPr id="8" name="Rectangle 7"/>
          <p:cNvSpPr/>
          <p:nvPr/>
        </p:nvSpPr>
        <p:spPr>
          <a:xfrm>
            <a:off x="411480" y="1353312"/>
            <a:ext cx="73152" cy="64008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371600"/>
            <a:ext cx="3931920" cy="292608"/>
          </a:xfrm>
          <a:prstGeom prst="rect">
            <a:avLst/>
          </a:prstGeom>
          <a:noFill/>
        </p:spPr>
        <p:txBody>
          <a:bodyPr wrap="square">
            <a:spAutoFit/>
          </a:bodyPr>
          <a:lstStyle/>
          <a:p>
            <a:pPr algn="l"/>
            <a:r>
              <a:rPr sz="1250" b="1" i="0">
                <a:solidFill>
                  <a:srgbClr val="1A1A2E"/>
                </a:solidFill>
                <a:latin typeface="Calibri"/>
              </a:rPr>
              <a:t>Geographic</a:t>
            </a:r>
          </a:p>
        </p:txBody>
      </p:sp>
      <p:sp>
        <p:nvSpPr>
          <p:cNvPr id="10" name="TextBox 9"/>
          <p:cNvSpPr txBox="1"/>
          <p:nvPr/>
        </p:nvSpPr>
        <p:spPr>
          <a:xfrm>
            <a:off x="594360" y="1645920"/>
            <a:ext cx="3931920" cy="457200"/>
          </a:xfrm>
          <a:prstGeom prst="rect">
            <a:avLst/>
          </a:prstGeom>
          <a:noFill/>
        </p:spPr>
        <p:txBody>
          <a:bodyPr wrap="square">
            <a:spAutoFit/>
          </a:bodyPr>
          <a:lstStyle/>
          <a:p>
            <a:pPr algn="l"/>
            <a:r>
              <a:rPr sz="1100" b="0" i="0">
                <a:solidFill>
                  <a:srgbClr val="64748B"/>
                </a:solidFill>
                <a:latin typeface="Calibri"/>
              </a:rPr>
              <a:t>City &amp; zip target encoding, state ordinal,
latitude/longitude proxy via encoding</a:t>
            </a:r>
          </a:p>
        </p:txBody>
      </p:sp>
      <p:sp>
        <p:nvSpPr>
          <p:cNvPr id="11" name="Rectangle 10"/>
          <p:cNvSpPr/>
          <p:nvPr/>
        </p:nvSpPr>
        <p:spPr>
          <a:xfrm>
            <a:off x="411480" y="2203704"/>
            <a:ext cx="73152" cy="64008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221992"/>
            <a:ext cx="3931920" cy="292608"/>
          </a:xfrm>
          <a:prstGeom prst="rect">
            <a:avLst/>
          </a:prstGeom>
          <a:noFill/>
        </p:spPr>
        <p:txBody>
          <a:bodyPr wrap="square">
            <a:spAutoFit/>
          </a:bodyPr>
          <a:lstStyle/>
          <a:p>
            <a:pPr algn="l"/>
            <a:r>
              <a:rPr sz="1250" b="1" i="0">
                <a:solidFill>
                  <a:srgbClr val="1A1A2E"/>
                </a:solidFill>
                <a:latin typeface="Calibri"/>
              </a:rPr>
              <a:t>Structural</a:t>
            </a:r>
          </a:p>
        </p:txBody>
      </p:sp>
      <p:sp>
        <p:nvSpPr>
          <p:cNvPr id="13" name="TextBox 12"/>
          <p:cNvSpPr txBox="1"/>
          <p:nvPr/>
        </p:nvSpPr>
        <p:spPr>
          <a:xfrm>
            <a:off x="594360" y="2496312"/>
            <a:ext cx="3931920" cy="457200"/>
          </a:xfrm>
          <a:prstGeom prst="rect">
            <a:avLst/>
          </a:prstGeom>
          <a:noFill/>
        </p:spPr>
        <p:txBody>
          <a:bodyPr wrap="square">
            <a:spAutoFit/>
          </a:bodyPr>
          <a:lstStyle/>
          <a:p>
            <a:pPr algn="l"/>
            <a:r>
              <a:rPr sz="1100" b="0" i="0">
                <a:solidFill>
                  <a:srgbClr val="64748B"/>
                </a:solidFill>
                <a:latin typeface="Calibri"/>
              </a:rPr>
              <a:t>sqft, bed/bath, bed-bath ratio, sqft/bed,
sqft², is_large_house flag</a:t>
            </a:r>
          </a:p>
        </p:txBody>
      </p:sp>
      <p:sp>
        <p:nvSpPr>
          <p:cNvPr id="14" name="Rectangle 13"/>
          <p:cNvSpPr/>
          <p:nvPr/>
        </p:nvSpPr>
        <p:spPr>
          <a:xfrm>
            <a:off x="411480" y="3054096"/>
            <a:ext cx="73152" cy="64008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3072384"/>
            <a:ext cx="3931920" cy="292608"/>
          </a:xfrm>
          <a:prstGeom prst="rect">
            <a:avLst/>
          </a:prstGeom>
          <a:noFill/>
        </p:spPr>
        <p:txBody>
          <a:bodyPr wrap="square">
            <a:spAutoFit/>
          </a:bodyPr>
          <a:lstStyle/>
          <a:p>
            <a:pPr algn="l"/>
            <a:r>
              <a:rPr sz="1250" b="1" i="0">
                <a:solidFill>
                  <a:srgbClr val="1A1A2E"/>
                </a:solidFill>
                <a:latin typeface="Calibri"/>
              </a:rPr>
              <a:t>Property</a:t>
            </a:r>
          </a:p>
        </p:txBody>
      </p:sp>
      <p:sp>
        <p:nvSpPr>
          <p:cNvPr id="16" name="TextBox 15"/>
          <p:cNvSpPr txBox="1"/>
          <p:nvPr/>
        </p:nvSpPr>
        <p:spPr>
          <a:xfrm>
            <a:off x="594360" y="3346703"/>
            <a:ext cx="3931920" cy="430887"/>
          </a:xfrm>
          <a:prstGeom prst="rect">
            <a:avLst/>
          </a:prstGeom>
          <a:noFill/>
        </p:spPr>
        <p:txBody>
          <a:bodyPr wrap="square">
            <a:spAutoFit/>
          </a:bodyPr>
          <a:lstStyle/>
          <a:p>
            <a:pPr algn="l"/>
            <a:r>
              <a:rPr lang="en-US" sz="1100" dirty="0" err="1">
                <a:solidFill>
                  <a:srgbClr val="64748B"/>
                </a:solidFill>
                <a:latin typeface="Calibri"/>
              </a:rPr>
              <a:t>y</a:t>
            </a:r>
            <a:r>
              <a:rPr sz="1100" b="0" i="0" dirty="0" err="1">
                <a:solidFill>
                  <a:srgbClr val="64748B"/>
                </a:solidFill>
                <a:latin typeface="Calibri"/>
              </a:rPr>
              <a:t>ear</a:t>
            </a:r>
            <a:r>
              <a:rPr lang="en-US" sz="1100" b="0" i="0" dirty="0" err="1">
                <a:solidFill>
                  <a:srgbClr val="64748B"/>
                </a:solidFill>
                <a:latin typeface="Calibri"/>
              </a:rPr>
              <a:t>_</a:t>
            </a:r>
            <a:r>
              <a:rPr sz="1100" b="0" i="0" dirty="0" err="1">
                <a:solidFill>
                  <a:srgbClr val="64748B"/>
                </a:solidFill>
                <a:latin typeface="Calibri"/>
              </a:rPr>
              <a:t>built</a:t>
            </a:r>
            <a:r>
              <a:rPr sz="1100" b="0" i="0" dirty="0">
                <a:solidFill>
                  <a:srgbClr val="64748B"/>
                </a:solidFill>
                <a:latin typeface="Calibri"/>
              </a:rPr>
              <a:t> → </a:t>
            </a:r>
            <a:r>
              <a:rPr sz="1100" b="0" i="0" dirty="0" err="1">
                <a:solidFill>
                  <a:srgbClr val="64748B"/>
                </a:solidFill>
                <a:latin typeface="Calibri"/>
              </a:rPr>
              <a:t>house</a:t>
            </a:r>
            <a:r>
              <a:rPr lang="en-US" sz="1100" b="0" i="0" dirty="0" err="1">
                <a:solidFill>
                  <a:srgbClr val="64748B"/>
                </a:solidFill>
                <a:latin typeface="Calibri"/>
              </a:rPr>
              <a:t>_</a:t>
            </a:r>
            <a:r>
              <a:rPr sz="1100" b="0" i="0" dirty="0" err="1">
                <a:solidFill>
                  <a:srgbClr val="64748B"/>
                </a:solidFill>
                <a:latin typeface="Calibri"/>
              </a:rPr>
              <a:t>age</a:t>
            </a:r>
            <a:r>
              <a:rPr sz="1100" b="0" i="0" dirty="0">
                <a:solidFill>
                  <a:srgbClr val="64748B"/>
                </a:solidFill>
                <a:latin typeface="Calibri"/>
              </a:rPr>
              <a:t>, </a:t>
            </a:r>
            <a:r>
              <a:rPr sz="1100" b="0" i="0" dirty="0" err="1">
                <a:solidFill>
                  <a:srgbClr val="64748B"/>
                </a:solidFill>
                <a:latin typeface="Calibri"/>
              </a:rPr>
              <a:t>decade</a:t>
            </a:r>
            <a:r>
              <a:rPr lang="en-US" sz="1100" b="0" i="0" dirty="0" err="1">
                <a:solidFill>
                  <a:srgbClr val="64748B"/>
                </a:solidFill>
                <a:latin typeface="Calibri"/>
              </a:rPr>
              <a:t>_</a:t>
            </a:r>
            <a:r>
              <a:rPr sz="1100" b="0" i="0" dirty="0" err="1">
                <a:solidFill>
                  <a:srgbClr val="64748B"/>
                </a:solidFill>
                <a:latin typeface="Calibri"/>
              </a:rPr>
              <a:t>bucket</a:t>
            </a:r>
            <a:r>
              <a:rPr sz="1100" b="0" i="0" dirty="0">
                <a:solidFill>
                  <a:srgbClr val="64748B"/>
                </a:solidFill>
                <a:latin typeface="Calibri"/>
              </a:rPr>
              <a:t>,
property type one-hot (5 categories)</a:t>
            </a:r>
          </a:p>
        </p:txBody>
      </p:sp>
      <p:sp>
        <p:nvSpPr>
          <p:cNvPr id="17" name="Rectangle 16"/>
          <p:cNvSpPr/>
          <p:nvPr/>
        </p:nvSpPr>
        <p:spPr>
          <a:xfrm>
            <a:off x="411480" y="3904487"/>
            <a:ext cx="73152" cy="64008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922775"/>
            <a:ext cx="3931920" cy="292608"/>
          </a:xfrm>
          <a:prstGeom prst="rect">
            <a:avLst/>
          </a:prstGeom>
          <a:noFill/>
        </p:spPr>
        <p:txBody>
          <a:bodyPr wrap="square">
            <a:spAutoFit/>
          </a:bodyPr>
          <a:lstStyle/>
          <a:p>
            <a:pPr algn="l"/>
            <a:r>
              <a:rPr sz="1250" b="1" i="0">
                <a:solidFill>
                  <a:srgbClr val="1A1A2E"/>
                </a:solidFill>
                <a:latin typeface="Calibri"/>
              </a:rPr>
              <a:t>Lot &amp; Extras</a:t>
            </a:r>
          </a:p>
        </p:txBody>
      </p:sp>
      <p:sp>
        <p:nvSpPr>
          <p:cNvPr id="19" name="TextBox 18"/>
          <p:cNvSpPr txBox="1"/>
          <p:nvPr/>
        </p:nvSpPr>
        <p:spPr>
          <a:xfrm>
            <a:off x="594360" y="4197096"/>
            <a:ext cx="3931920" cy="457200"/>
          </a:xfrm>
          <a:prstGeom prst="rect">
            <a:avLst/>
          </a:prstGeom>
          <a:noFill/>
        </p:spPr>
        <p:txBody>
          <a:bodyPr wrap="square">
            <a:spAutoFit/>
          </a:bodyPr>
          <a:lstStyle/>
          <a:p>
            <a:pPr algn="l"/>
            <a:r>
              <a:rPr sz="1100" b="0" i="0">
                <a:solidFill>
                  <a:srgbClr val="64748B"/>
                </a:solidFill>
                <a:latin typeface="Calibri"/>
              </a:rPr>
              <a:t>Acre lot (log), HOA fee (log), has_pool,
garage spaces, stories</a:t>
            </a:r>
          </a:p>
        </p:txBody>
      </p:sp>
      <p:sp>
        <p:nvSpPr>
          <p:cNvPr id="20" name="Rectangle 19"/>
          <p:cNvSpPr/>
          <p:nvPr/>
        </p:nvSpPr>
        <p:spPr>
          <a:xfrm>
            <a:off x="4617720" y="932688"/>
            <a:ext cx="36576" cy="4005072"/>
          </a:xfrm>
          <a:prstGeom prst="rect">
            <a:avLst/>
          </a:prstGeom>
          <a:solidFill>
            <a:srgbClr val="CC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28032" y="960120"/>
            <a:ext cx="3931920" cy="347472"/>
          </a:xfrm>
          <a:prstGeom prst="rect">
            <a:avLst/>
          </a:prstGeom>
          <a:noFill/>
        </p:spPr>
        <p:txBody>
          <a:bodyPr wrap="square">
            <a:spAutoFit/>
          </a:bodyPr>
          <a:lstStyle/>
          <a:p>
            <a:pPr algn="l"/>
            <a:r>
              <a:rPr sz="1300" b="1" i="0">
                <a:solidFill>
                  <a:srgbClr val="0077B6"/>
                </a:solidFill>
                <a:latin typeface="Calibri"/>
              </a:rPr>
              <a:t>Training &amp; Performance</a:t>
            </a:r>
          </a:p>
        </p:txBody>
      </p:sp>
      <p:sp>
        <p:nvSpPr>
          <p:cNvPr id="22" name="TextBox 21"/>
          <p:cNvSpPr txBox="1"/>
          <p:nvPr/>
        </p:nvSpPr>
        <p:spPr>
          <a:xfrm>
            <a:off x="4828032" y="1353312"/>
            <a:ext cx="1417320" cy="384048"/>
          </a:xfrm>
          <a:prstGeom prst="rect">
            <a:avLst/>
          </a:prstGeom>
          <a:noFill/>
        </p:spPr>
        <p:txBody>
          <a:bodyPr wrap="square">
            <a:spAutoFit/>
          </a:bodyPr>
          <a:lstStyle/>
          <a:p>
            <a:pPr algn="l"/>
            <a:r>
              <a:rPr sz="1150" b="1" i="0">
                <a:solidFill>
                  <a:srgbClr val="1A1A2E"/>
                </a:solidFill>
                <a:latin typeface="Calibri"/>
              </a:rPr>
              <a:t>Algorithm:</a:t>
            </a:r>
          </a:p>
        </p:txBody>
      </p:sp>
      <p:sp>
        <p:nvSpPr>
          <p:cNvPr id="23" name="TextBox 22"/>
          <p:cNvSpPr txBox="1"/>
          <p:nvPr/>
        </p:nvSpPr>
        <p:spPr>
          <a:xfrm>
            <a:off x="6291072" y="1353312"/>
            <a:ext cx="2487168" cy="384048"/>
          </a:xfrm>
          <a:prstGeom prst="rect">
            <a:avLst/>
          </a:prstGeom>
          <a:noFill/>
        </p:spPr>
        <p:txBody>
          <a:bodyPr wrap="square">
            <a:spAutoFit/>
          </a:bodyPr>
          <a:lstStyle/>
          <a:p>
            <a:pPr algn="l"/>
            <a:r>
              <a:rPr sz="1100" b="0" i="0">
                <a:solidFill>
                  <a:srgbClr val="64748B"/>
                </a:solidFill>
                <a:latin typeface="Calibri"/>
              </a:rPr>
              <a:t>XGBoost (n_estimators=5000, early stopping)</a:t>
            </a:r>
          </a:p>
        </p:txBody>
      </p:sp>
      <p:sp>
        <p:nvSpPr>
          <p:cNvPr id="24" name="TextBox 23"/>
          <p:cNvSpPr txBox="1"/>
          <p:nvPr/>
        </p:nvSpPr>
        <p:spPr>
          <a:xfrm>
            <a:off x="4828032" y="1828800"/>
            <a:ext cx="1417320" cy="384048"/>
          </a:xfrm>
          <a:prstGeom prst="rect">
            <a:avLst/>
          </a:prstGeom>
          <a:noFill/>
        </p:spPr>
        <p:txBody>
          <a:bodyPr wrap="square">
            <a:spAutoFit/>
          </a:bodyPr>
          <a:lstStyle/>
          <a:p>
            <a:pPr algn="l"/>
            <a:r>
              <a:rPr sz="1150" b="1" i="0" dirty="0">
                <a:solidFill>
                  <a:srgbClr val="1A1A2E"/>
                </a:solidFill>
                <a:latin typeface="Calibri"/>
              </a:rPr>
              <a:t>Target:</a:t>
            </a:r>
          </a:p>
        </p:txBody>
      </p:sp>
      <p:sp>
        <p:nvSpPr>
          <p:cNvPr id="25" name="TextBox 24"/>
          <p:cNvSpPr txBox="1"/>
          <p:nvPr/>
        </p:nvSpPr>
        <p:spPr>
          <a:xfrm>
            <a:off x="6291072" y="1828800"/>
            <a:ext cx="2487168" cy="384048"/>
          </a:xfrm>
          <a:prstGeom prst="rect">
            <a:avLst/>
          </a:prstGeom>
          <a:noFill/>
        </p:spPr>
        <p:txBody>
          <a:bodyPr wrap="square">
            <a:spAutoFit/>
          </a:bodyPr>
          <a:lstStyle/>
          <a:p>
            <a:pPr algn="l"/>
            <a:r>
              <a:rPr sz="1100" b="0" i="0">
                <a:solidFill>
                  <a:srgbClr val="64748B"/>
                </a:solidFill>
                <a:latin typeface="Calibri"/>
              </a:rPr>
              <a:t>log(1 + price)  →  expm1 to recover price</a:t>
            </a:r>
          </a:p>
        </p:txBody>
      </p:sp>
      <p:sp>
        <p:nvSpPr>
          <p:cNvPr id="26" name="TextBox 25"/>
          <p:cNvSpPr txBox="1"/>
          <p:nvPr/>
        </p:nvSpPr>
        <p:spPr>
          <a:xfrm>
            <a:off x="4828032" y="2304288"/>
            <a:ext cx="1417320" cy="384048"/>
          </a:xfrm>
          <a:prstGeom prst="rect">
            <a:avLst/>
          </a:prstGeom>
          <a:noFill/>
        </p:spPr>
        <p:txBody>
          <a:bodyPr wrap="square">
            <a:spAutoFit/>
          </a:bodyPr>
          <a:lstStyle/>
          <a:p>
            <a:pPr algn="l"/>
            <a:r>
              <a:rPr sz="1150" b="1" i="0">
                <a:solidFill>
                  <a:srgbClr val="1A1A2E"/>
                </a:solidFill>
                <a:latin typeface="Calibri"/>
              </a:rPr>
              <a:t>Split:</a:t>
            </a:r>
          </a:p>
        </p:txBody>
      </p:sp>
      <p:sp>
        <p:nvSpPr>
          <p:cNvPr id="27" name="TextBox 26"/>
          <p:cNvSpPr txBox="1"/>
          <p:nvPr/>
        </p:nvSpPr>
        <p:spPr>
          <a:xfrm>
            <a:off x="6291072" y="2304288"/>
            <a:ext cx="2487168" cy="384048"/>
          </a:xfrm>
          <a:prstGeom prst="rect">
            <a:avLst/>
          </a:prstGeom>
          <a:noFill/>
        </p:spPr>
        <p:txBody>
          <a:bodyPr wrap="square">
            <a:spAutoFit/>
          </a:bodyPr>
          <a:lstStyle/>
          <a:p>
            <a:pPr algn="l"/>
            <a:r>
              <a:rPr sz="1100" b="0" i="0">
                <a:solidFill>
                  <a:srgbClr val="64748B"/>
                </a:solidFill>
                <a:latin typeface="Calibri"/>
              </a:rPr>
              <a:t>80% train / 20% hold-out  (random_state=42)</a:t>
            </a:r>
          </a:p>
        </p:txBody>
      </p:sp>
      <p:sp>
        <p:nvSpPr>
          <p:cNvPr id="28" name="TextBox 27"/>
          <p:cNvSpPr txBox="1"/>
          <p:nvPr/>
        </p:nvSpPr>
        <p:spPr>
          <a:xfrm>
            <a:off x="4828032" y="2779776"/>
            <a:ext cx="1417320" cy="384048"/>
          </a:xfrm>
          <a:prstGeom prst="rect">
            <a:avLst/>
          </a:prstGeom>
          <a:noFill/>
        </p:spPr>
        <p:txBody>
          <a:bodyPr wrap="square">
            <a:spAutoFit/>
          </a:bodyPr>
          <a:lstStyle/>
          <a:p>
            <a:pPr algn="l"/>
            <a:r>
              <a:rPr sz="1150" b="1" i="0">
                <a:solidFill>
                  <a:srgbClr val="1A1A2E"/>
                </a:solidFill>
                <a:latin typeface="Calibri"/>
              </a:rPr>
              <a:t>GPU:</a:t>
            </a:r>
          </a:p>
        </p:txBody>
      </p:sp>
      <p:sp>
        <p:nvSpPr>
          <p:cNvPr id="29" name="TextBox 28"/>
          <p:cNvSpPr txBox="1"/>
          <p:nvPr/>
        </p:nvSpPr>
        <p:spPr>
          <a:xfrm>
            <a:off x="6291072" y="2779776"/>
            <a:ext cx="2487168" cy="384048"/>
          </a:xfrm>
          <a:prstGeom prst="rect">
            <a:avLst/>
          </a:prstGeom>
          <a:noFill/>
        </p:spPr>
        <p:txBody>
          <a:bodyPr wrap="square">
            <a:spAutoFit/>
          </a:bodyPr>
          <a:lstStyle/>
          <a:p>
            <a:pPr algn="l"/>
            <a:r>
              <a:rPr sz="1100" b="0" i="0">
                <a:solidFill>
                  <a:srgbClr val="64748B"/>
                </a:solidFill>
                <a:latin typeface="Calibri"/>
              </a:rPr>
              <a:t>CUDA-accelerated training (~4–6 min)</a:t>
            </a:r>
          </a:p>
        </p:txBody>
      </p:sp>
      <p:sp>
        <p:nvSpPr>
          <p:cNvPr id="30" name="TextBox 29"/>
          <p:cNvSpPr txBox="1"/>
          <p:nvPr/>
        </p:nvSpPr>
        <p:spPr>
          <a:xfrm>
            <a:off x="4828032" y="3149415"/>
            <a:ext cx="1417320" cy="384048"/>
          </a:xfrm>
          <a:prstGeom prst="rect">
            <a:avLst/>
          </a:prstGeom>
          <a:noFill/>
        </p:spPr>
        <p:txBody>
          <a:bodyPr wrap="square">
            <a:spAutoFit/>
          </a:bodyPr>
          <a:lstStyle/>
          <a:p>
            <a:pPr algn="l"/>
            <a:r>
              <a:rPr sz="1150" b="1" i="0" dirty="0">
                <a:solidFill>
                  <a:srgbClr val="1A1A2E"/>
                </a:solidFill>
                <a:latin typeface="Calibri"/>
              </a:rPr>
              <a:t>Encoding:</a:t>
            </a:r>
          </a:p>
        </p:txBody>
      </p:sp>
      <p:sp>
        <p:nvSpPr>
          <p:cNvPr id="31" name="TextBox 30"/>
          <p:cNvSpPr txBox="1"/>
          <p:nvPr/>
        </p:nvSpPr>
        <p:spPr>
          <a:xfrm>
            <a:off x="6291072" y="3124112"/>
            <a:ext cx="2487168" cy="430887"/>
          </a:xfrm>
          <a:prstGeom prst="rect">
            <a:avLst/>
          </a:prstGeom>
          <a:noFill/>
        </p:spPr>
        <p:txBody>
          <a:bodyPr wrap="square">
            <a:spAutoFit/>
          </a:bodyPr>
          <a:lstStyle/>
          <a:p>
            <a:pPr algn="l"/>
            <a:r>
              <a:rPr sz="1100" b="0" i="0" dirty="0">
                <a:solidFill>
                  <a:srgbClr val="64748B"/>
                </a:solidFill>
                <a:latin typeface="Calibri"/>
              </a:rPr>
              <a:t>Target Encoder for city + zip (CV=5, smooth=auto)</a:t>
            </a:r>
          </a:p>
        </p:txBody>
      </p:sp>
      <p:sp>
        <p:nvSpPr>
          <p:cNvPr id="32" name="Rectangle 31"/>
          <p:cNvSpPr/>
          <p:nvPr/>
        </p:nvSpPr>
        <p:spPr>
          <a:xfrm>
            <a:off x="4828032" y="3611880"/>
            <a:ext cx="1316736" cy="107899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828032" y="3611880"/>
            <a:ext cx="1316736" cy="625815"/>
          </a:xfrm>
          <a:prstGeom prst="rect">
            <a:avLst/>
          </a:prstGeom>
          <a:noFill/>
        </p:spPr>
        <p:txBody>
          <a:bodyPr wrap="square">
            <a:spAutoFit/>
          </a:bodyPr>
          <a:lstStyle/>
          <a:p>
            <a:pPr algn="ctr"/>
            <a:r>
              <a:rPr sz="2400" b="1">
                <a:solidFill>
                  <a:srgbClr val="FFFFFF"/>
                </a:solidFill>
                <a:latin typeface="Calibri"/>
              </a:rPr>
              <a:t>0.494</a:t>
            </a:r>
          </a:p>
        </p:txBody>
      </p:sp>
      <p:sp>
        <p:nvSpPr>
          <p:cNvPr id="34" name="TextBox 33"/>
          <p:cNvSpPr txBox="1"/>
          <p:nvPr/>
        </p:nvSpPr>
        <p:spPr>
          <a:xfrm>
            <a:off x="4828032" y="4216115"/>
            <a:ext cx="1316736" cy="431596"/>
          </a:xfrm>
          <a:prstGeom prst="rect">
            <a:avLst/>
          </a:prstGeom>
          <a:noFill/>
        </p:spPr>
        <p:txBody>
          <a:bodyPr wrap="square">
            <a:spAutoFit/>
          </a:bodyPr>
          <a:lstStyle/>
          <a:p>
            <a:pPr algn="ctr"/>
            <a:r>
              <a:rPr sz="950" b="0" dirty="0">
                <a:solidFill>
                  <a:srgbClr val="CADCFC"/>
                </a:solidFill>
                <a:latin typeface="Calibri"/>
              </a:rPr>
              <a:t>Val RMSE
(log-price)</a:t>
            </a:r>
          </a:p>
        </p:txBody>
      </p:sp>
      <p:sp>
        <p:nvSpPr>
          <p:cNvPr id="35" name="Rectangle 34"/>
          <p:cNvSpPr/>
          <p:nvPr/>
        </p:nvSpPr>
        <p:spPr>
          <a:xfrm>
            <a:off x="6254496" y="3611880"/>
            <a:ext cx="1316736" cy="1078992"/>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54496" y="3611880"/>
            <a:ext cx="1316736" cy="625815"/>
          </a:xfrm>
          <a:prstGeom prst="rect">
            <a:avLst/>
          </a:prstGeom>
          <a:noFill/>
        </p:spPr>
        <p:txBody>
          <a:bodyPr wrap="square">
            <a:spAutoFit/>
          </a:bodyPr>
          <a:lstStyle/>
          <a:p>
            <a:pPr algn="ctr"/>
            <a:r>
              <a:rPr sz="2400" b="1">
                <a:solidFill>
                  <a:srgbClr val="FFFFFF"/>
                </a:solidFill>
                <a:latin typeface="Calibri"/>
              </a:rPr>
              <a:t>0.336</a:t>
            </a:r>
          </a:p>
        </p:txBody>
      </p:sp>
      <p:sp>
        <p:nvSpPr>
          <p:cNvPr id="37" name="TextBox 36"/>
          <p:cNvSpPr txBox="1"/>
          <p:nvPr/>
        </p:nvSpPr>
        <p:spPr>
          <a:xfrm>
            <a:off x="6254496" y="4216115"/>
            <a:ext cx="1316736" cy="431596"/>
          </a:xfrm>
          <a:prstGeom prst="rect">
            <a:avLst/>
          </a:prstGeom>
          <a:noFill/>
        </p:spPr>
        <p:txBody>
          <a:bodyPr wrap="square">
            <a:spAutoFit/>
          </a:bodyPr>
          <a:lstStyle/>
          <a:p>
            <a:pPr algn="ctr"/>
            <a:r>
              <a:rPr sz="950" b="0">
                <a:solidFill>
                  <a:srgbClr val="CADCFC"/>
                </a:solidFill>
                <a:latin typeface="Calibri"/>
              </a:rPr>
              <a:t>Val MAE
(log-price)</a:t>
            </a:r>
          </a:p>
        </p:txBody>
      </p:sp>
      <p:sp>
        <p:nvSpPr>
          <p:cNvPr id="38" name="Rectangle 37"/>
          <p:cNvSpPr/>
          <p:nvPr/>
        </p:nvSpPr>
        <p:spPr>
          <a:xfrm>
            <a:off x="7680960" y="3611880"/>
            <a:ext cx="1316736" cy="10789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80960" y="3611880"/>
            <a:ext cx="1316736" cy="625815"/>
          </a:xfrm>
          <a:prstGeom prst="rect">
            <a:avLst/>
          </a:prstGeom>
          <a:noFill/>
        </p:spPr>
        <p:txBody>
          <a:bodyPr wrap="square">
            <a:spAutoFit/>
          </a:bodyPr>
          <a:lstStyle/>
          <a:p>
            <a:pPr algn="ctr"/>
            <a:r>
              <a:rPr sz="2400" b="1">
                <a:solidFill>
                  <a:srgbClr val="FFFFFF"/>
                </a:solidFill>
                <a:latin typeface="Calibri"/>
              </a:rPr>
              <a:t>26.1%</a:t>
            </a:r>
          </a:p>
        </p:txBody>
      </p:sp>
      <p:sp>
        <p:nvSpPr>
          <p:cNvPr id="40" name="TextBox 39"/>
          <p:cNvSpPr txBox="1"/>
          <p:nvPr/>
        </p:nvSpPr>
        <p:spPr>
          <a:xfrm>
            <a:off x="7680960" y="4216115"/>
            <a:ext cx="1316736" cy="431596"/>
          </a:xfrm>
          <a:prstGeom prst="rect">
            <a:avLst/>
          </a:prstGeom>
          <a:noFill/>
        </p:spPr>
        <p:txBody>
          <a:bodyPr wrap="square">
            <a:spAutoFit/>
          </a:bodyPr>
          <a:lstStyle/>
          <a:p>
            <a:pPr algn="ctr"/>
            <a:r>
              <a:rPr sz="950" b="0">
                <a:solidFill>
                  <a:srgbClr val="CADCFC"/>
                </a:solidFill>
                <a:latin typeface="Calibri"/>
              </a:rPr>
              <a:t>Premium MAPE
&gt;$600k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Multi-Signal Blending</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960120"/>
            <a:ext cx="2724912" cy="39136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024128"/>
            <a:ext cx="2468880" cy="566928"/>
          </a:xfrm>
          <a:prstGeom prst="rect">
            <a:avLst/>
          </a:prstGeom>
          <a:noFill/>
        </p:spPr>
        <p:txBody>
          <a:bodyPr wrap="square">
            <a:spAutoFit/>
          </a:bodyPr>
          <a:lstStyle/>
          <a:p>
            <a:pPr algn="l"/>
            <a:r>
              <a:rPr sz="1350" b="1" i="0">
                <a:solidFill>
                  <a:srgbClr val="FFFFFF"/>
                </a:solidFill>
                <a:latin typeface="Calibri"/>
              </a:rPr>
              <a:t>RentCast AVM</a:t>
            </a:r>
          </a:p>
        </p:txBody>
      </p:sp>
      <p:sp>
        <p:nvSpPr>
          <p:cNvPr id="9" name="Rectangle 8"/>
          <p:cNvSpPr/>
          <p:nvPr/>
        </p:nvSpPr>
        <p:spPr>
          <a:xfrm>
            <a:off x="475488" y="1609344"/>
            <a:ext cx="2468880" cy="3200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5488" y="1691640"/>
            <a:ext cx="2514600" cy="3017520"/>
          </a:xfrm>
          <a:prstGeom prst="rect">
            <a:avLst/>
          </a:prstGeom>
          <a:noFill/>
        </p:spPr>
        <p:txBody>
          <a:bodyPr wrap="square">
            <a:spAutoFit/>
          </a:bodyPr>
          <a:lstStyle/>
          <a:p>
            <a:pPr algn="l">
              <a:spcAft>
                <a:spcPts val="400"/>
              </a:spcAft>
            </a:pPr>
            <a:r>
              <a:rPr sz="1000">
                <a:solidFill>
                  <a:srgbClr val="0077B6"/>
                </a:solidFill>
                <a:latin typeface="Calibri"/>
              </a:rPr>
              <a:t>▪  </a:t>
            </a:r>
            <a:r>
              <a:rPr sz="1100">
                <a:solidFill>
                  <a:srgbClr val="CADCFC"/>
                </a:solidFill>
                <a:latin typeface="Calibri"/>
              </a:rPr>
              <a:t>Property-level AVM estimate</a:t>
            </a:r>
          </a:p>
          <a:p>
            <a:pPr algn="l">
              <a:spcAft>
                <a:spcPts val="400"/>
              </a:spcAft>
            </a:pPr>
            <a:r>
              <a:rPr sz="1000">
                <a:solidFill>
                  <a:srgbClr val="0077B6"/>
                </a:solidFill>
                <a:latin typeface="Calibri"/>
              </a:rPr>
              <a:t>▪  </a:t>
            </a:r>
            <a:r>
              <a:rPr sz="1100">
                <a:solidFill>
                  <a:srgbClr val="CADCFC"/>
                </a:solidFill>
                <a:latin typeface="Calibri"/>
              </a:rPr>
              <a:t>Blended 10–60% by confidence</a:t>
            </a:r>
          </a:p>
          <a:p>
            <a:pPr algn="l">
              <a:spcAft>
                <a:spcPts val="400"/>
              </a:spcAft>
            </a:pPr>
            <a:r>
              <a:rPr sz="1000">
                <a:solidFill>
                  <a:srgbClr val="0077B6"/>
                </a:solidFill>
                <a:latin typeface="Calibri"/>
              </a:rPr>
              <a:t>▪  </a:t>
            </a:r>
            <a:r>
              <a:rPr sz="1100">
                <a:solidFill>
                  <a:srgbClr val="CADCFC"/>
                </a:solidFill>
                <a:latin typeface="Calibri"/>
              </a:rPr>
              <a:t>High confidence → up to 60% weight</a:t>
            </a:r>
          </a:p>
          <a:p>
            <a:pPr algn="l">
              <a:spcAft>
                <a:spcPts val="400"/>
              </a:spcAft>
            </a:pPr>
            <a:r>
              <a:rPr sz="1000">
                <a:solidFill>
                  <a:srgbClr val="0077B6"/>
                </a:solidFill>
                <a:latin typeface="Calibri"/>
              </a:rPr>
              <a:t>▪  </a:t>
            </a:r>
            <a:r>
              <a:rPr sz="1100">
                <a:solidFill>
                  <a:srgbClr val="CADCFC"/>
                </a:solidFill>
                <a:latin typeface="Calibri"/>
              </a:rPr>
              <a:t>Divergence scaling: extra weight when</a:t>
            </a:r>
          </a:p>
          <a:p>
            <a:pPr algn="l">
              <a:spcAft>
                <a:spcPts val="400"/>
              </a:spcAft>
            </a:pPr>
            <a:r>
              <a:rPr sz="1000">
                <a:solidFill>
                  <a:srgbClr val="0077B6"/>
                </a:solidFill>
                <a:latin typeface="Calibri"/>
              </a:rPr>
              <a:t>▪  </a:t>
            </a:r>
            <a:r>
              <a:rPr sz="1100">
                <a:solidFill>
                  <a:srgbClr val="CADCFC"/>
                </a:solidFill>
                <a:latin typeface="Calibri"/>
              </a:rPr>
              <a:t>AVM diverges from structured &gt; 0.3 log</a:t>
            </a:r>
          </a:p>
        </p:txBody>
      </p:sp>
      <p:sp>
        <p:nvSpPr>
          <p:cNvPr id="11" name="Rectangle 10"/>
          <p:cNvSpPr/>
          <p:nvPr/>
        </p:nvSpPr>
        <p:spPr>
          <a:xfrm>
            <a:off x="3200400" y="960120"/>
            <a:ext cx="2724912" cy="3913632"/>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8416" y="1024128"/>
            <a:ext cx="2468880" cy="566928"/>
          </a:xfrm>
          <a:prstGeom prst="rect">
            <a:avLst/>
          </a:prstGeom>
          <a:noFill/>
        </p:spPr>
        <p:txBody>
          <a:bodyPr wrap="square">
            <a:spAutoFit/>
          </a:bodyPr>
          <a:lstStyle/>
          <a:p>
            <a:pPr algn="l"/>
            <a:r>
              <a:rPr sz="1350" b="1" i="0">
                <a:solidFill>
                  <a:srgbClr val="FFFFFF"/>
                </a:solidFill>
                <a:latin typeface="Calibri"/>
              </a:rPr>
              <a:t>Zip Market Stats</a:t>
            </a:r>
          </a:p>
        </p:txBody>
      </p:sp>
      <p:sp>
        <p:nvSpPr>
          <p:cNvPr id="13" name="Rectangle 12"/>
          <p:cNvSpPr/>
          <p:nvPr/>
        </p:nvSpPr>
        <p:spPr>
          <a:xfrm>
            <a:off x="3328416" y="1609344"/>
            <a:ext cx="2468880" cy="3200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28416" y="1691640"/>
            <a:ext cx="2514600" cy="3017520"/>
          </a:xfrm>
          <a:prstGeom prst="rect">
            <a:avLst/>
          </a:prstGeom>
          <a:noFill/>
        </p:spPr>
        <p:txBody>
          <a:bodyPr wrap="square">
            <a:spAutoFit/>
          </a:bodyPr>
          <a:lstStyle/>
          <a:p>
            <a:pPr algn="l">
              <a:spcAft>
                <a:spcPts val="400"/>
              </a:spcAft>
            </a:pPr>
            <a:r>
              <a:rPr sz="1000">
                <a:solidFill>
                  <a:srgbClr val="0077B6"/>
                </a:solidFill>
                <a:latin typeface="Calibri"/>
              </a:rPr>
              <a:t>▪  </a:t>
            </a:r>
            <a:r>
              <a:rPr sz="1100">
                <a:solidFill>
                  <a:srgbClr val="CADCFC"/>
                </a:solidFill>
                <a:latin typeface="Calibri"/>
              </a:rPr>
              <a:t>Price-per-sqft × home sqft</a:t>
            </a:r>
          </a:p>
          <a:p>
            <a:pPr algn="l">
              <a:spcAft>
                <a:spcPts val="400"/>
              </a:spcAft>
            </a:pPr>
            <a:r>
              <a:rPr sz="1000">
                <a:solidFill>
                  <a:srgbClr val="0077B6"/>
                </a:solidFill>
                <a:latin typeface="Calibri"/>
              </a:rPr>
              <a:t>▪  </a:t>
            </a:r>
            <a:r>
              <a:rPr sz="1100">
                <a:solidFill>
                  <a:srgbClr val="CADCFC"/>
                </a:solidFill>
                <a:latin typeface="Calibri"/>
              </a:rPr>
              <a:t>Independent of listing-specific noise</a:t>
            </a:r>
          </a:p>
          <a:p>
            <a:pPr algn="l">
              <a:spcAft>
                <a:spcPts val="400"/>
              </a:spcAft>
            </a:pPr>
            <a:r>
              <a:rPr sz="1000">
                <a:solidFill>
                  <a:srgbClr val="0077B6"/>
                </a:solidFill>
                <a:latin typeface="Calibri"/>
              </a:rPr>
              <a:t>▪  </a:t>
            </a:r>
            <a:r>
              <a:rPr sz="1100">
                <a:solidFill>
                  <a:srgbClr val="CADCFC"/>
                </a:solidFill>
                <a:latin typeface="Calibri"/>
              </a:rPr>
              <a:t>Added as 3rd signal when AVM present</a:t>
            </a:r>
          </a:p>
          <a:p>
            <a:pPr algn="l">
              <a:spcAft>
                <a:spcPts val="400"/>
              </a:spcAft>
            </a:pPr>
            <a:r>
              <a:rPr sz="1000">
                <a:solidFill>
                  <a:srgbClr val="0077B6"/>
                </a:solidFill>
                <a:latin typeface="Calibri"/>
              </a:rPr>
              <a:t>▪  </a:t>
            </a:r>
            <a:r>
              <a:rPr sz="1100">
                <a:solidFill>
                  <a:srgbClr val="CADCFC"/>
                </a:solidFill>
                <a:latin typeface="Calibri"/>
              </a:rPr>
              <a:t>Corroboration check: ±0.30 log-space</a:t>
            </a:r>
          </a:p>
          <a:p>
            <a:pPr algn="l">
              <a:spcAft>
                <a:spcPts val="400"/>
              </a:spcAft>
            </a:pPr>
            <a:r>
              <a:rPr sz="1000">
                <a:solidFill>
                  <a:srgbClr val="0077B6"/>
                </a:solidFill>
                <a:latin typeface="Calibri"/>
              </a:rPr>
              <a:t>▪  </a:t>
            </a:r>
            <a:r>
              <a:rPr sz="1100">
                <a:solidFill>
                  <a:srgbClr val="CADCFC"/>
                </a:solidFill>
                <a:latin typeface="Calibri"/>
              </a:rPr>
              <a:t>No API key required — fully free</a:t>
            </a:r>
          </a:p>
        </p:txBody>
      </p:sp>
      <p:sp>
        <p:nvSpPr>
          <p:cNvPr id="15" name="Rectangle 14"/>
          <p:cNvSpPr/>
          <p:nvPr/>
        </p:nvSpPr>
        <p:spPr>
          <a:xfrm>
            <a:off x="6053328" y="960120"/>
            <a:ext cx="2724912" cy="3913632"/>
          </a:xfrm>
          <a:prstGeom prst="rect">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81344" y="1024128"/>
            <a:ext cx="2468880" cy="566928"/>
          </a:xfrm>
          <a:prstGeom prst="rect">
            <a:avLst/>
          </a:prstGeom>
          <a:noFill/>
        </p:spPr>
        <p:txBody>
          <a:bodyPr wrap="square">
            <a:spAutoFit/>
          </a:bodyPr>
          <a:lstStyle/>
          <a:p>
            <a:pPr algn="l"/>
            <a:r>
              <a:rPr sz="1350" b="1" i="0">
                <a:solidFill>
                  <a:srgbClr val="FFFFFF"/>
                </a:solidFill>
                <a:latin typeface="Calibri"/>
              </a:rPr>
              <a:t>Outlier Detection
+ Premium Boost</a:t>
            </a:r>
          </a:p>
        </p:txBody>
      </p:sp>
      <p:sp>
        <p:nvSpPr>
          <p:cNvPr id="17" name="Rectangle 16"/>
          <p:cNvSpPr/>
          <p:nvPr/>
        </p:nvSpPr>
        <p:spPr>
          <a:xfrm>
            <a:off x="6181344" y="1609344"/>
            <a:ext cx="2468880" cy="3200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81344" y="1691640"/>
            <a:ext cx="2514600" cy="3017520"/>
          </a:xfrm>
          <a:prstGeom prst="rect">
            <a:avLst/>
          </a:prstGeom>
          <a:noFill/>
        </p:spPr>
        <p:txBody>
          <a:bodyPr wrap="square">
            <a:spAutoFit/>
          </a:bodyPr>
          <a:lstStyle/>
          <a:p>
            <a:pPr algn="l">
              <a:spcAft>
                <a:spcPts val="400"/>
              </a:spcAft>
            </a:pPr>
            <a:r>
              <a:rPr sz="1000" dirty="0">
                <a:solidFill>
                  <a:srgbClr val="0077B6"/>
                </a:solidFill>
                <a:latin typeface="Calibri"/>
              </a:rPr>
              <a:t>▪  </a:t>
            </a:r>
            <a:r>
              <a:rPr sz="1100" dirty="0">
                <a:solidFill>
                  <a:srgbClr val="CADCFC"/>
                </a:solidFill>
                <a:latin typeface="Calibri"/>
              </a:rPr>
              <a:t>Fires when AVM + market both diverge from structured by &gt;42% log-space</a:t>
            </a:r>
          </a:p>
          <a:p>
            <a:pPr algn="l">
              <a:spcAft>
                <a:spcPts val="400"/>
              </a:spcAft>
            </a:pPr>
            <a:r>
              <a:rPr sz="1000" dirty="0">
                <a:solidFill>
                  <a:srgbClr val="0077B6"/>
                </a:solidFill>
                <a:latin typeface="Calibri"/>
              </a:rPr>
              <a:t>▪  </a:t>
            </a:r>
            <a:r>
              <a:rPr sz="1100" dirty="0">
                <a:solidFill>
                  <a:srgbClr val="CADCFC"/>
                </a:solidFill>
                <a:latin typeface="Calibri"/>
              </a:rPr>
              <a:t>AND agree with each other within 0.30 log-space</a:t>
            </a:r>
          </a:p>
          <a:p>
            <a:pPr algn="l">
              <a:spcAft>
                <a:spcPts val="400"/>
              </a:spcAft>
            </a:pPr>
            <a:r>
              <a:rPr sz="1000" dirty="0">
                <a:solidFill>
                  <a:srgbClr val="0077B6"/>
                </a:solidFill>
                <a:latin typeface="Calibri"/>
              </a:rPr>
              <a:t>▪  </a:t>
            </a:r>
            <a:r>
              <a:rPr sz="1100" dirty="0">
                <a:solidFill>
                  <a:srgbClr val="CADCFC"/>
                </a:solidFill>
                <a:latin typeface="Calibri"/>
              </a:rPr>
              <a:t>Structured weight drops to 5% of blend</a:t>
            </a:r>
          </a:p>
          <a:p>
            <a:pPr algn="l">
              <a:spcAft>
                <a:spcPts val="400"/>
              </a:spcAft>
            </a:pPr>
            <a:r>
              <a:rPr sz="1000" dirty="0">
                <a:solidFill>
                  <a:srgbClr val="0077B6"/>
                </a:solidFill>
                <a:latin typeface="Calibri"/>
              </a:rPr>
              <a:t>▪  </a:t>
            </a:r>
            <a:r>
              <a:rPr sz="1100" dirty="0">
                <a:solidFill>
                  <a:srgbClr val="CADCFC"/>
                </a:solidFill>
                <a:latin typeface="Calibri"/>
              </a:rPr>
              <a:t>Premium boost up to +30% for non-CA markets</a:t>
            </a:r>
          </a:p>
        </p:txBody>
      </p:sp>
      <p:sp>
        <p:nvSpPr>
          <p:cNvPr id="19" name="Rectangle 18"/>
          <p:cNvSpPr/>
          <p:nvPr/>
        </p:nvSpPr>
        <p:spPr>
          <a:xfrm>
            <a:off x="0" y="4709160"/>
            <a:ext cx="9144000" cy="434340"/>
          </a:xfrm>
          <a:prstGeom prst="rect">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1480" y="4745736"/>
            <a:ext cx="8321040" cy="320040"/>
          </a:xfrm>
          <a:prstGeom prst="rect">
            <a:avLst/>
          </a:prstGeom>
          <a:noFill/>
        </p:spPr>
        <p:txBody>
          <a:bodyPr wrap="square">
            <a:spAutoFit/>
          </a:bodyPr>
          <a:lstStyle/>
          <a:p>
            <a:pPr algn="l"/>
            <a:r>
              <a:rPr sz="1000" b="0" i="1">
                <a:solidFill>
                  <a:srgbClr val="64748B"/>
                </a:solidFill>
                <a:latin typeface="Calibri"/>
              </a:rPr>
              <a:t>Geography-aware weights: CA uses conservative AVM blend (10-40%); non-CA uses higher weights (25-60%) — less structured training richness outside CA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CLIP Zero-Shot Condition Scoring</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960120"/>
            <a:ext cx="4160520" cy="347472"/>
          </a:xfrm>
          <a:prstGeom prst="rect">
            <a:avLst/>
          </a:prstGeom>
          <a:noFill/>
        </p:spPr>
        <p:txBody>
          <a:bodyPr wrap="square">
            <a:spAutoFit/>
          </a:bodyPr>
          <a:lstStyle/>
          <a:p>
            <a:pPr algn="l"/>
            <a:r>
              <a:rPr sz="1300" b="1" i="0">
                <a:solidFill>
                  <a:srgbClr val="0077B6"/>
                </a:solidFill>
                <a:latin typeface="Calibri"/>
              </a:rPr>
              <a:t>How It Works</a:t>
            </a:r>
          </a:p>
        </p:txBody>
      </p:sp>
      <p:sp>
        <p:nvSpPr>
          <p:cNvPr id="8" name="TextBox 7"/>
          <p:cNvSpPr txBox="1"/>
          <p:nvPr/>
        </p:nvSpPr>
        <p:spPr>
          <a:xfrm>
            <a:off x="411480" y="1371600"/>
            <a:ext cx="4160520" cy="3474720"/>
          </a:xfrm>
          <a:prstGeom prst="rect">
            <a:avLst/>
          </a:prstGeom>
          <a:noFill/>
        </p:spPr>
        <p:txBody>
          <a:bodyPr wrap="square">
            <a:spAutoFit/>
          </a:bodyPr>
          <a:lstStyle/>
          <a:p>
            <a:pPr algn="l">
              <a:spcAft>
                <a:spcPts val="400"/>
              </a:spcAft>
            </a:pPr>
            <a:r>
              <a:rPr sz="1100">
                <a:solidFill>
                  <a:srgbClr val="0077B6"/>
                </a:solidFill>
                <a:latin typeface="Calibri"/>
              </a:rPr>
              <a:t>▪  </a:t>
            </a:r>
            <a:r>
              <a:rPr sz="1200">
                <a:solidFill>
                  <a:srgbClr val="1A1A2E"/>
                </a:solidFill>
                <a:latin typeface="Calibri"/>
              </a:rPr>
              <a:t>Load CLIP ViT-B/32 (400M image-text pairs)</a:t>
            </a:r>
          </a:p>
          <a:p>
            <a:pPr algn="l">
              <a:spcAft>
                <a:spcPts val="400"/>
              </a:spcAft>
            </a:pPr>
            <a:r>
              <a:rPr sz="1100">
                <a:solidFill>
                  <a:srgbClr val="0077B6"/>
                </a:solidFill>
                <a:latin typeface="Calibri"/>
              </a:rPr>
              <a:t>▪  </a:t>
            </a:r>
            <a:r>
              <a:rPr sz="1200">
                <a:solidFill>
                  <a:srgbClr val="1A1A2E"/>
                </a:solidFill>
                <a:latin typeface="Calibri"/>
              </a:rPr>
              <a:t>Compute cosine similarity: image vs 4 positive prompts (modern, renovated, high-end) and 4 negative prompts (dated, worn, deferred maintenance)</a:t>
            </a:r>
          </a:p>
          <a:p>
            <a:pPr algn="l">
              <a:spcAft>
                <a:spcPts val="400"/>
              </a:spcAft>
            </a:pPr>
            <a:r>
              <a:rPr sz="1100">
                <a:solidFill>
                  <a:srgbClr val="0077B6"/>
                </a:solidFill>
                <a:latin typeface="Calibri"/>
              </a:rPr>
              <a:t>▪  </a:t>
            </a:r>
            <a:r>
              <a:rPr sz="1200">
                <a:solidFill>
                  <a:srgbClr val="1A1A2E"/>
                </a:solidFill>
                <a:latin typeface="Calibri"/>
              </a:rPr>
              <a:t>condition_score = mean(positive sims) − mean(negative sims)</a:t>
            </a:r>
          </a:p>
          <a:p>
            <a:pPr algn="l">
              <a:spcAft>
                <a:spcPts val="400"/>
              </a:spcAft>
            </a:pPr>
            <a:r>
              <a:rPr sz="1100">
                <a:solidFill>
                  <a:srgbClr val="0077B6"/>
                </a:solidFill>
                <a:latin typeface="Calibri"/>
              </a:rPr>
              <a:t>▪  </a:t>
            </a:r>
            <a:r>
              <a:rPr sz="1200">
                <a:solidFill>
                  <a:srgbClr val="1A1A2E"/>
                </a:solidFill>
                <a:latin typeface="Calibri"/>
              </a:rPr>
              <a:t>Apply calibration:  log-price adj = slope × score + intercept</a:t>
            </a:r>
          </a:p>
          <a:p>
            <a:pPr algn="l">
              <a:spcAft>
                <a:spcPts val="400"/>
              </a:spcAft>
            </a:pPr>
            <a:r>
              <a:rPr sz="1100">
                <a:solidFill>
                  <a:srgbClr val="0077B6"/>
                </a:solidFill>
                <a:latin typeface="Calibri"/>
              </a:rPr>
              <a:t>▪  </a:t>
            </a:r>
            <a:r>
              <a:rPr sz="1200">
                <a:solidFill>
                  <a:srgbClr val="1A1A2E"/>
                </a:solidFill>
                <a:latin typeface="Calibri"/>
              </a:rPr>
              <a:t>Adjust final blend by ±15% (±0.15 log) maximum</a:t>
            </a:r>
          </a:p>
          <a:p>
            <a:pPr algn="l">
              <a:spcAft>
                <a:spcPts val="400"/>
              </a:spcAft>
            </a:pPr>
            <a:r>
              <a:rPr sz="1100">
                <a:solidFill>
                  <a:srgbClr val="0077B6"/>
                </a:solidFill>
                <a:latin typeface="Calibri"/>
              </a:rPr>
              <a:t>▪  </a:t>
            </a:r>
            <a:r>
              <a:rPr sz="1200">
                <a:solidFill>
                  <a:srgbClr val="1A1A2E"/>
                </a:solidFill>
                <a:latin typeface="Calibri"/>
              </a:rPr>
              <a:t>Supports up to 5 photos — scores averaged equally</a:t>
            </a:r>
          </a:p>
        </p:txBody>
      </p:sp>
      <p:sp>
        <p:nvSpPr>
          <p:cNvPr id="9" name="Rectangle 8"/>
          <p:cNvSpPr/>
          <p:nvPr/>
        </p:nvSpPr>
        <p:spPr>
          <a:xfrm>
            <a:off x="4754880" y="932688"/>
            <a:ext cx="36576" cy="4005072"/>
          </a:xfrm>
          <a:prstGeom prst="rect">
            <a:avLst/>
          </a:prstGeom>
          <a:solidFill>
            <a:srgbClr val="CC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56048" y="960120"/>
            <a:ext cx="3822191" cy="347472"/>
          </a:xfrm>
          <a:prstGeom prst="rect">
            <a:avLst/>
          </a:prstGeom>
          <a:noFill/>
        </p:spPr>
        <p:txBody>
          <a:bodyPr wrap="square">
            <a:spAutoFit/>
          </a:bodyPr>
          <a:lstStyle/>
          <a:p>
            <a:pPr algn="l"/>
            <a:r>
              <a:rPr sz="1300" b="1" i="0">
                <a:solidFill>
                  <a:srgbClr val="0077B6"/>
                </a:solidFill>
                <a:latin typeface="Calibri"/>
              </a:rPr>
              <a:t>Semantic Prompts</a:t>
            </a:r>
          </a:p>
        </p:txBody>
      </p:sp>
      <p:sp>
        <p:nvSpPr>
          <p:cNvPr id="11" name="Rectangle 10"/>
          <p:cNvSpPr/>
          <p:nvPr/>
        </p:nvSpPr>
        <p:spPr>
          <a:xfrm>
            <a:off x="4956048" y="1353312"/>
            <a:ext cx="3822191" cy="320040"/>
          </a:xfrm>
          <a:prstGeom prst="rect">
            <a:avLst/>
          </a:prstGeom>
          <a:solidFill>
            <a:srgbClr val="DCF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353312"/>
            <a:ext cx="3657600" cy="320040"/>
          </a:xfrm>
          <a:prstGeom prst="rect">
            <a:avLst/>
          </a:prstGeom>
          <a:noFill/>
        </p:spPr>
        <p:txBody>
          <a:bodyPr wrap="square">
            <a:spAutoFit/>
          </a:bodyPr>
          <a:lstStyle/>
          <a:p>
            <a:pPr algn="l"/>
            <a:r>
              <a:rPr sz="1150" b="1" i="0">
                <a:solidFill>
                  <a:srgbClr val="059669"/>
                </a:solidFill>
                <a:latin typeface="Calibri"/>
              </a:rPr>
              <a:t>POSITIVE  (modern / well-maintained)</a:t>
            </a:r>
          </a:p>
        </p:txBody>
      </p:sp>
      <p:sp>
        <p:nvSpPr>
          <p:cNvPr id="13" name="Rectangle 12"/>
          <p:cNvSpPr/>
          <p:nvPr/>
        </p:nvSpPr>
        <p:spPr>
          <a:xfrm>
            <a:off x="4956048" y="1719072"/>
            <a:ext cx="3822191" cy="530352"/>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84064" y="1773936"/>
            <a:ext cx="3621024" cy="457200"/>
          </a:xfrm>
          <a:prstGeom prst="rect">
            <a:avLst/>
          </a:prstGeom>
          <a:noFill/>
        </p:spPr>
        <p:txBody>
          <a:bodyPr wrap="square">
            <a:spAutoFit/>
          </a:bodyPr>
          <a:lstStyle/>
          <a:p>
            <a:pPr algn="l"/>
            <a:r>
              <a:rPr sz="1050" b="0" i="1">
                <a:solidFill>
                  <a:srgbClr val="1A1A2E"/>
                </a:solidFill>
                <a:latin typeface="Calibri"/>
              </a:rPr>
              <a:t>"a modern home interior with updated finishes
and contemporary design"</a:t>
            </a:r>
          </a:p>
        </p:txBody>
      </p:sp>
      <p:sp>
        <p:nvSpPr>
          <p:cNvPr id="15" name="Rectangle 14"/>
          <p:cNvSpPr/>
          <p:nvPr/>
        </p:nvSpPr>
        <p:spPr>
          <a:xfrm>
            <a:off x="4956048" y="2313432"/>
            <a:ext cx="3822191" cy="530352"/>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84064" y="2368296"/>
            <a:ext cx="3621024" cy="457200"/>
          </a:xfrm>
          <a:prstGeom prst="rect">
            <a:avLst/>
          </a:prstGeom>
          <a:noFill/>
        </p:spPr>
        <p:txBody>
          <a:bodyPr wrap="square">
            <a:spAutoFit/>
          </a:bodyPr>
          <a:lstStyle/>
          <a:p>
            <a:pPr algn="l"/>
            <a:r>
              <a:rPr sz="1050" b="0" i="1">
                <a:solidFill>
                  <a:srgbClr val="1A1A2E"/>
                </a:solidFill>
                <a:latin typeface="Calibri"/>
              </a:rPr>
              <a:t>"a renovated kitchen with new appliances,
granite countertops and fresh paint"</a:t>
            </a:r>
          </a:p>
        </p:txBody>
      </p:sp>
      <p:sp>
        <p:nvSpPr>
          <p:cNvPr id="17" name="Rectangle 16"/>
          <p:cNvSpPr/>
          <p:nvPr/>
        </p:nvSpPr>
        <p:spPr>
          <a:xfrm>
            <a:off x="4956048" y="2907791"/>
            <a:ext cx="3822191" cy="530352"/>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84064" y="2962656"/>
            <a:ext cx="3621024" cy="457200"/>
          </a:xfrm>
          <a:prstGeom prst="rect">
            <a:avLst/>
          </a:prstGeom>
          <a:noFill/>
        </p:spPr>
        <p:txBody>
          <a:bodyPr wrap="square">
            <a:spAutoFit/>
          </a:bodyPr>
          <a:lstStyle/>
          <a:p>
            <a:pPr algn="l"/>
            <a:r>
              <a:rPr sz="1050" b="0" i="1">
                <a:solidFill>
                  <a:srgbClr val="1A1A2E"/>
                </a:solidFill>
                <a:latin typeface="Calibri"/>
              </a:rPr>
              <a:t>"a newly built house with clean modern
bathrooms and hardwood floors"</a:t>
            </a:r>
          </a:p>
        </p:txBody>
      </p:sp>
      <p:sp>
        <p:nvSpPr>
          <p:cNvPr id="19" name="Rectangle 18"/>
          <p:cNvSpPr/>
          <p:nvPr/>
        </p:nvSpPr>
        <p:spPr>
          <a:xfrm>
            <a:off x="4956048" y="3493008"/>
            <a:ext cx="3822191" cy="347472"/>
          </a:xfrm>
          <a:prstGeom prst="rect">
            <a:avLst/>
          </a:prstGeom>
          <a:solidFill>
            <a:srgbClr val="FF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84064" y="3493008"/>
            <a:ext cx="3657600" cy="347472"/>
          </a:xfrm>
          <a:prstGeom prst="rect">
            <a:avLst/>
          </a:prstGeom>
          <a:noFill/>
        </p:spPr>
        <p:txBody>
          <a:bodyPr wrap="square">
            <a:spAutoFit/>
          </a:bodyPr>
          <a:lstStyle/>
          <a:p>
            <a:pPr algn="l"/>
            <a:r>
              <a:rPr sz="1150" b="1" i="0">
                <a:solidFill>
                  <a:srgbClr val="DC2626"/>
                </a:solidFill>
                <a:latin typeface="Calibri"/>
              </a:rPr>
              <a:t>NEGATIVE  (outdated / poor condition)</a:t>
            </a:r>
          </a:p>
        </p:txBody>
      </p:sp>
      <p:sp>
        <p:nvSpPr>
          <p:cNvPr id="21" name="Rectangle 20"/>
          <p:cNvSpPr/>
          <p:nvPr/>
        </p:nvSpPr>
        <p:spPr>
          <a:xfrm>
            <a:off x="4956048" y="3895344"/>
            <a:ext cx="3822191" cy="47548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84064" y="3941063"/>
            <a:ext cx="3621024" cy="420624"/>
          </a:xfrm>
          <a:prstGeom prst="rect">
            <a:avLst/>
          </a:prstGeom>
          <a:noFill/>
        </p:spPr>
        <p:txBody>
          <a:bodyPr wrap="square">
            <a:spAutoFit/>
          </a:bodyPr>
          <a:lstStyle/>
          <a:p>
            <a:pPr algn="l"/>
            <a:r>
              <a:rPr sz="1050" b="0" i="1">
                <a:solidFill>
                  <a:srgbClr val="1A1A2E"/>
                </a:solidFill>
                <a:latin typeface="Calibri"/>
              </a:rPr>
              <a:t>"an outdated home with old carpet, worn surfaces
and dated wallpaper"</a:t>
            </a:r>
          </a:p>
        </p:txBody>
      </p:sp>
      <p:sp>
        <p:nvSpPr>
          <p:cNvPr id="23" name="Rectangle 22"/>
          <p:cNvSpPr/>
          <p:nvPr/>
        </p:nvSpPr>
        <p:spPr>
          <a:xfrm>
            <a:off x="4956048" y="4425696"/>
            <a:ext cx="3822191" cy="47548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84064" y="4471416"/>
            <a:ext cx="3621024" cy="420624"/>
          </a:xfrm>
          <a:prstGeom prst="rect">
            <a:avLst/>
          </a:prstGeom>
          <a:noFill/>
        </p:spPr>
        <p:txBody>
          <a:bodyPr wrap="square">
            <a:spAutoFit/>
          </a:bodyPr>
          <a:lstStyle/>
          <a:p>
            <a:pPr algn="l"/>
            <a:r>
              <a:rPr sz="1050" b="0" i="1">
                <a:solidFill>
                  <a:srgbClr val="1A1A2E"/>
                </a:solidFill>
                <a:latin typeface="Calibri"/>
              </a:rPr>
              <a:t>"a house needing renovation with peeling paint,
cracked walls and old fixtures"</a:t>
            </a:r>
          </a:p>
        </p:txBody>
      </p:sp>
      <p:sp>
        <p:nvSpPr>
          <p:cNvPr id="25" name="TextBox 24"/>
          <p:cNvSpPr txBox="1"/>
          <p:nvPr/>
        </p:nvSpPr>
        <p:spPr>
          <a:xfrm>
            <a:off x="411480" y="3749039"/>
            <a:ext cx="4160520" cy="276999"/>
          </a:xfrm>
          <a:prstGeom prst="rect">
            <a:avLst/>
          </a:prstGeom>
          <a:noFill/>
        </p:spPr>
        <p:txBody>
          <a:bodyPr wrap="square">
            <a:spAutoFit/>
          </a:bodyPr>
          <a:lstStyle/>
          <a:p>
            <a:pPr algn="l"/>
            <a:r>
              <a:rPr sz="1200" b="1" i="0" dirty="0">
                <a:solidFill>
                  <a:srgbClr val="0077B6"/>
                </a:solidFill>
                <a:latin typeface="Calibri"/>
              </a:rPr>
              <a:t>Calibration </a:t>
            </a:r>
            <a:r>
              <a:rPr sz="1200" b="1" i="0">
                <a:solidFill>
                  <a:srgbClr val="0077B6"/>
                </a:solidFill>
                <a:latin typeface="Calibri"/>
              </a:rPr>
              <a:t>Results  (</a:t>
            </a:r>
            <a:r>
              <a:rPr lang="en-US" sz="1200" b="1" i="0">
                <a:solidFill>
                  <a:srgbClr val="0077B6"/>
                </a:solidFill>
                <a:latin typeface="Calibri"/>
              </a:rPr>
              <a:t>15563</a:t>
            </a:r>
            <a:r>
              <a:rPr sz="1200" b="1" i="0">
                <a:solidFill>
                  <a:srgbClr val="0077B6"/>
                </a:solidFill>
                <a:latin typeface="Calibri"/>
              </a:rPr>
              <a:t> </a:t>
            </a:r>
            <a:r>
              <a:rPr sz="1200" b="1" i="0" dirty="0">
                <a:solidFill>
                  <a:srgbClr val="0077B6"/>
                </a:solidFill>
                <a:latin typeface="Calibri"/>
              </a:rPr>
              <a:t>images, 39 states)</a:t>
            </a:r>
          </a:p>
        </p:txBody>
      </p:sp>
      <p:sp>
        <p:nvSpPr>
          <p:cNvPr id="26" name="Rectangle 25"/>
          <p:cNvSpPr/>
          <p:nvPr/>
        </p:nvSpPr>
        <p:spPr>
          <a:xfrm>
            <a:off x="411480" y="4096512"/>
            <a:ext cx="4160520" cy="292608"/>
          </a:xfrm>
          <a:prstGeom prst="rect">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133088"/>
            <a:ext cx="1325880" cy="237744"/>
          </a:xfrm>
          <a:prstGeom prst="rect">
            <a:avLst/>
          </a:prstGeom>
          <a:noFill/>
        </p:spPr>
        <p:txBody>
          <a:bodyPr wrap="square">
            <a:spAutoFit/>
          </a:bodyPr>
          <a:lstStyle/>
          <a:p>
            <a:pPr algn="l"/>
            <a:r>
              <a:rPr sz="1050" b="1" i="0">
                <a:solidFill>
                  <a:srgbClr val="1A1A2E"/>
                </a:solidFill>
                <a:latin typeface="Calibri"/>
              </a:rPr>
              <a:t>Pearson corr.</a:t>
            </a:r>
          </a:p>
        </p:txBody>
      </p:sp>
      <p:sp>
        <p:nvSpPr>
          <p:cNvPr id="28" name="TextBox 27"/>
          <p:cNvSpPr txBox="1"/>
          <p:nvPr/>
        </p:nvSpPr>
        <p:spPr>
          <a:xfrm>
            <a:off x="1847088" y="4133088"/>
            <a:ext cx="749808" cy="237744"/>
          </a:xfrm>
          <a:prstGeom prst="rect">
            <a:avLst/>
          </a:prstGeom>
          <a:noFill/>
        </p:spPr>
        <p:txBody>
          <a:bodyPr wrap="square">
            <a:spAutoFit/>
          </a:bodyPr>
          <a:lstStyle/>
          <a:p>
            <a:pPr algn="l"/>
            <a:r>
              <a:rPr sz="1050" b="1" i="0">
                <a:solidFill>
                  <a:srgbClr val="0077B6"/>
                </a:solidFill>
                <a:latin typeface="Calibri"/>
              </a:rPr>
              <a:t>+0.087</a:t>
            </a:r>
          </a:p>
        </p:txBody>
      </p:sp>
      <p:sp>
        <p:nvSpPr>
          <p:cNvPr id="29" name="TextBox 28"/>
          <p:cNvSpPr txBox="1"/>
          <p:nvPr/>
        </p:nvSpPr>
        <p:spPr>
          <a:xfrm>
            <a:off x="2633472" y="4133088"/>
            <a:ext cx="1874519" cy="237744"/>
          </a:xfrm>
          <a:prstGeom prst="rect">
            <a:avLst/>
          </a:prstGeom>
          <a:noFill/>
        </p:spPr>
        <p:txBody>
          <a:bodyPr wrap="square">
            <a:spAutoFit/>
          </a:bodyPr>
          <a:lstStyle/>
          <a:p>
            <a:pPr algn="l"/>
            <a:r>
              <a:rPr sz="1000" b="0" i="1">
                <a:solidFill>
                  <a:srgbClr val="64748B"/>
                </a:solidFill>
                <a:latin typeface="Calibri"/>
              </a:rPr>
              <a:t>Directionally correct</a:t>
            </a:r>
          </a:p>
        </p:txBody>
      </p:sp>
      <p:sp>
        <p:nvSpPr>
          <p:cNvPr id="30" name="Rectangle 29"/>
          <p:cNvSpPr/>
          <p:nvPr/>
        </p:nvSpPr>
        <p:spPr>
          <a:xfrm>
            <a:off x="411480" y="4416552"/>
            <a:ext cx="4160520" cy="292608"/>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4453128"/>
            <a:ext cx="1325880" cy="237744"/>
          </a:xfrm>
          <a:prstGeom prst="rect">
            <a:avLst/>
          </a:prstGeom>
          <a:noFill/>
        </p:spPr>
        <p:txBody>
          <a:bodyPr wrap="square">
            <a:spAutoFit/>
          </a:bodyPr>
          <a:lstStyle/>
          <a:p>
            <a:pPr algn="l"/>
            <a:r>
              <a:rPr sz="1050" b="1" i="0">
                <a:solidFill>
                  <a:srgbClr val="1A1A2E"/>
                </a:solidFill>
                <a:latin typeface="Calibri"/>
              </a:rPr>
              <a:t>R² (linear)</a:t>
            </a:r>
          </a:p>
        </p:txBody>
      </p:sp>
      <p:sp>
        <p:nvSpPr>
          <p:cNvPr id="32" name="TextBox 31"/>
          <p:cNvSpPr txBox="1"/>
          <p:nvPr/>
        </p:nvSpPr>
        <p:spPr>
          <a:xfrm>
            <a:off x="1847088" y="4453128"/>
            <a:ext cx="749808" cy="237744"/>
          </a:xfrm>
          <a:prstGeom prst="rect">
            <a:avLst/>
          </a:prstGeom>
          <a:noFill/>
        </p:spPr>
        <p:txBody>
          <a:bodyPr wrap="square">
            <a:spAutoFit/>
          </a:bodyPr>
          <a:lstStyle/>
          <a:p>
            <a:pPr algn="l"/>
            <a:r>
              <a:rPr sz="1050" b="1" i="0">
                <a:solidFill>
                  <a:srgbClr val="0077B6"/>
                </a:solidFill>
                <a:latin typeface="Calibri"/>
              </a:rPr>
              <a:t>−2.64</a:t>
            </a:r>
          </a:p>
        </p:txBody>
      </p:sp>
      <p:sp>
        <p:nvSpPr>
          <p:cNvPr id="33" name="TextBox 32"/>
          <p:cNvSpPr txBox="1"/>
          <p:nvPr/>
        </p:nvSpPr>
        <p:spPr>
          <a:xfrm>
            <a:off x="2633472" y="4453128"/>
            <a:ext cx="1874519" cy="237744"/>
          </a:xfrm>
          <a:prstGeom prst="rect">
            <a:avLst/>
          </a:prstGeom>
          <a:noFill/>
        </p:spPr>
        <p:txBody>
          <a:bodyPr wrap="square">
            <a:spAutoFit/>
          </a:bodyPr>
          <a:lstStyle/>
          <a:p>
            <a:pPr algn="l"/>
            <a:r>
              <a:rPr sz="1000" b="0" i="1">
                <a:solidFill>
                  <a:srgbClr val="64748B"/>
                </a:solidFill>
                <a:latin typeface="Calibri"/>
              </a:rPr>
              <a:t>Fallback mode active</a:t>
            </a:r>
          </a:p>
        </p:txBody>
      </p:sp>
      <p:sp>
        <p:nvSpPr>
          <p:cNvPr id="34" name="Rectangle 33"/>
          <p:cNvSpPr/>
          <p:nvPr/>
        </p:nvSpPr>
        <p:spPr>
          <a:xfrm>
            <a:off x="411480" y="4736592"/>
            <a:ext cx="4160520" cy="292608"/>
          </a:xfrm>
          <a:prstGeom prst="rect">
            <a:avLst/>
          </a:prstGeom>
          <a:solidFill>
            <a:srgbClr val="E8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2920" y="4773168"/>
            <a:ext cx="1325880" cy="237744"/>
          </a:xfrm>
          <a:prstGeom prst="rect">
            <a:avLst/>
          </a:prstGeom>
          <a:noFill/>
        </p:spPr>
        <p:txBody>
          <a:bodyPr wrap="square">
            <a:spAutoFit/>
          </a:bodyPr>
          <a:lstStyle/>
          <a:p>
            <a:pPr algn="l"/>
            <a:r>
              <a:rPr sz="1050" b="1" i="0">
                <a:solidFill>
                  <a:srgbClr val="1A1A2E"/>
                </a:solidFill>
                <a:latin typeface="Calibri"/>
              </a:rPr>
              <a:t>Adj. ceiling</a:t>
            </a:r>
          </a:p>
        </p:txBody>
      </p:sp>
      <p:sp>
        <p:nvSpPr>
          <p:cNvPr id="36" name="TextBox 35"/>
          <p:cNvSpPr txBox="1"/>
          <p:nvPr/>
        </p:nvSpPr>
        <p:spPr>
          <a:xfrm>
            <a:off x="1847088" y="4773168"/>
            <a:ext cx="749808" cy="237744"/>
          </a:xfrm>
          <a:prstGeom prst="rect">
            <a:avLst/>
          </a:prstGeom>
          <a:noFill/>
        </p:spPr>
        <p:txBody>
          <a:bodyPr wrap="square">
            <a:spAutoFit/>
          </a:bodyPr>
          <a:lstStyle/>
          <a:p>
            <a:pPr algn="l"/>
            <a:r>
              <a:rPr sz="1050" b="1" i="0">
                <a:solidFill>
                  <a:srgbClr val="0077B6"/>
                </a:solidFill>
                <a:latin typeface="Calibri"/>
              </a:rPr>
              <a:t>±15%</a:t>
            </a:r>
          </a:p>
        </p:txBody>
      </p:sp>
      <p:sp>
        <p:nvSpPr>
          <p:cNvPr id="37" name="TextBox 36"/>
          <p:cNvSpPr txBox="1"/>
          <p:nvPr/>
        </p:nvSpPr>
        <p:spPr>
          <a:xfrm>
            <a:off x="2633472" y="4773168"/>
            <a:ext cx="1874519" cy="237744"/>
          </a:xfrm>
          <a:prstGeom prst="rect">
            <a:avLst/>
          </a:prstGeom>
          <a:noFill/>
        </p:spPr>
        <p:txBody>
          <a:bodyPr wrap="square">
            <a:spAutoFit/>
          </a:bodyPr>
          <a:lstStyle/>
          <a:p>
            <a:pPr algn="l"/>
            <a:r>
              <a:rPr sz="1000" b="0" i="1">
                <a:solidFill>
                  <a:srgbClr val="64748B"/>
                </a:solidFill>
                <a:latin typeface="Calibri"/>
              </a:rPr>
              <a:t>Max log-price shift</a:t>
            </a:r>
          </a:p>
        </p:txBody>
      </p:sp>
      <p:sp>
        <p:nvSpPr>
          <p:cNvPr id="38" name="TextBox 37"/>
          <p:cNvSpPr txBox="1"/>
          <p:nvPr/>
        </p:nvSpPr>
        <p:spPr>
          <a:xfrm>
            <a:off x="4956048" y="4937760"/>
            <a:ext cx="3822191" cy="228600"/>
          </a:xfrm>
          <a:prstGeom prst="rect">
            <a:avLst/>
          </a:prstGeom>
          <a:noFill/>
        </p:spPr>
        <p:txBody>
          <a:bodyPr wrap="square">
            <a:spAutoFit/>
          </a:bodyPr>
          <a:lstStyle/>
          <a:p>
            <a:pPr algn="l"/>
            <a:r>
              <a:rPr sz="1000" b="0" i="1">
                <a:solidFill>
                  <a:srgbClr val="64748B"/>
                </a:solidFill>
                <a:latin typeface="Calibri"/>
              </a:rPr>
              <a:t>4 positive + 4 negative prompts total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64008"/>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8138160" cy="594360"/>
          </a:xfrm>
          <a:prstGeom prst="rect">
            <a:avLst/>
          </a:prstGeom>
          <a:noFill/>
        </p:spPr>
        <p:txBody>
          <a:bodyPr wrap="square">
            <a:spAutoFit/>
          </a:bodyPr>
          <a:lstStyle/>
          <a:p>
            <a:pPr algn="l"/>
            <a:r>
              <a:rPr sz="2800" b="1" i="0">
                <a:solidFill>
                  <a:srgbClr val="FFFFFF"/>
                </a:solidFill>
                <a:latin typeface="Calibri"/>
              </a:rPr>
              <a:t>Evaluation Results  —  Structured Model</a:t>
            </a:r>
          </a:p>
        </p:txBody>
      </p:sp>
      <p:sp>
        <p:nvSpPr>
          <p:cNvPr id="5" name="Rectangle 4"/>
          <p:cNvSpPr/>
          <p:nvPr/>
        </p:nvSpPr>
        <p:spPr>
          <a:xfrm>
            <a:off x="320040" y="795528"/>
            <a:ext cx="8503920" cy="32004"/>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 y="868680"/>
            <a:ext cx="8458200" cy="292608"/>
          </a:xfrm>
          <a:prstGeom prst="rect">
            <a:avLst/>
          </a:prstGeom>
          <a:noFill/>
        </p:spPr>
        <p:txBody>
          <a:bodyPr wrap="square">
            <a:spAutoFit/>
          </a:bodyPr>
          <a:lstStyle/>
          <a:p>
            <a:pPr algn="l"/>
            <a:r>
              <a:rPr sz="1100" b="0" i="1">
                <a:solidFill>
                  <a:srgbClr val="CADCFC"/>
                </a:solidFill>
                <a:latin typeface="Calibri"/>
              </a:rPr>
              <a:t>8,445 held-out test homes  ·  54 states  ·  structured-only (zero API cost)</a:t>
            </a:r>
          </a:p>
        </p:txBody>
      </p:sp>
      <p:sp>
        <p:nvSpPr>
          <p:cNvPr id="7" name="Rectangle 6"/>
          <p:cNvSpPr/>
          <p:nvPr/>
        </p:nvSpPr>
        <p:spPr>
          <a:xfrm>
            <a:off x="347472" y="1234440"/>
            <a:ext cx="2724912" cy="1389888"/>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5488" y="1298448"/>
            <a:ext cx="2468880" cy="658368"/>
          </a:xfrm>
          <a:prstGeom prst="rect">
            <a:avLst/>
          </a:prstGeom>
          <a:noFill/>
        </p:spPr>
        <p:txBody>
          <a:bodyPr wrap="square">
            <a:spAutoFit/>
          </a:bodyPr>
          <a:lstStyle/>
          <a:p>
            <a:pPr algn="ctr"/>
            <a:r>
              <a:rPr sz="4200" b="1" i="0">
                <a:solidFill>
                  <a:srgbClr val="CADCFC"/>
                </a:solidFill>
                <a:latin typeface="Calibri"/>
              </a:rPr>
              <a:t>42.1%</a:t>
            </a:r>
          </a:p>
        </p:txBody>
      </p:sp>
      <p:sp>
        <p:nvSpPr>
          <p:cNvPr id="9" name="TextBox 8"/>
          <p:cNvSpPr txBox="1"/>
          <p:nvPr/>
        </p:nvSpPr>
        <p:spPr>
          <a:xfrm>
            <a:off x="475488" y="1965960"/>
            <a:ext cx="2468880" cy="475488"/>
          </a:xfrm>
          <a:prstGeom prst="rect">
            <a:avLst/>
          </a:prstGeom>
          <a:noFill/>
        </p:spPr>
        <p:txBody>
          <a:bodyPr wrap="square">
            <a:spAutoFit/>
          </a:bodyPr>
          <a:lstStyle/>
          <a:p>
            <a:pPr algn="ctr"/>
            <a:r>
              <a:rPr sz="1100" b="0" i="0">
                <a:solidFill>
                  <a:srgbClr val="FFFFFF"/>
                </a:solidFill>
                <a:latin typeface="Calibri"/>
              </a:rPr>
              <a:t>Mean Absolute
% Error (MAPE)</a:t>
            </a:r>
          </a:p>
        </p:txBody>
      </p:sp>
      <p:sp>
        <p:nvSpPr>
          <p:cNvPr id="10" name="TextBox 9"/>
          <p:cNvSpPr txBox="1"/>
          <p:nvPr/>
        </p:nvSpPr>
        <p:spPr>
          <a:xfrm>
            <a:off x="475488" y="2423160"/>
            <a:ext cx="2468880" cy="201168"/>
          </a:xfrm>
          <a:prstGeom prst="rect">
            <a:avLst/>
          </a:prstGeom>
          <a:noFill/>
        </p:spPr>
        <p:txBody>
          <a:bodyPr wrap="square">
            <a:spAutoFit/>
          </a:bodyPr>
          <a:lstStyle/>
          <a:p>
            <a:pPr algn="ctr"/>
            <a:r>
              <a:rPr sz="950" b="0" i="1">
                <a:solidFill>
                  <a:srgbClr val="90A8C8"/>
                </a:solidFill>
                <a:latin typeface="Calibri"/>
              </a:rPr>
              <a:t>overall</a:t>
            </a:r>
          </a:p>
        </p:txBody>
      </p:sp>
      <p:sp>
        <p:nvSpPr>
          <p:cNvPr id="11" name="Rectangle 10"/>
          <p:cNvSpPr/>
          <p:nvPr/>
        </p:nvSpPr>
        <p:spPr>
          <a:xfrm>
            <a:off x="3200400" y="1234440"/>
            <a:ext cx="2724912" cy="1389888"/>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28416" y="1298448"/>
            <a:ext cx="2468880" cy="658368"/>
          </a:xfrm>
          <a:prstGeom prst="rect">
            <a:avLst/>
          </a:prstGeom>
          <a:noFill/>
        </p:spPr>
        <p:txBody>
          <a:bodyPr wrap="square">
            <a:spAutoFit/>
          </a:bodyPr>
          <a:lstStyle/>
          <a:p>
            <a:pPr algn="ctr"/>
            <a:r>
              <a:rPr sz="4200" b="1" i="0">
                <a:solidFill>
                  <a:srgbClr val="CADCFC"/>
                </a:solidFill>
                <a:latin typeface="Calibri"/>
              </a:rPr>
              <a:t>28.3%</a:t>
            </a:r>
          </a:p>
        </p:txBody>
      </p:sp>
      <p:sp>
        <p:nvSpPr>
          <p:cNvPr id="13" name="TextBox 12"/>
          <p:cNvSpPr txBox="1"/>
          <p:nvPr/>
        </p:nvSpPr>
        <p:spPr>
          <a:xfrm>
            <a:off x="3328416" y="1965960"/>
            <a:ext cx="2468880" cy="475488"/>
          </a:xfrm>
          <a:prstGeom prst="rect">
            <a:avLst/>
          </a:prstGeom>
          <a:noFill/>
        </p:spPr>
        <p:txBody>
          <a:bodyPr wrap="square">
            <a:spAutoFit/>
          </a:bodyPr>
          <a:lstStyle/>
          <a:p>
            <a:pPr algn="ctr"/>
            <a:r>
              <a:rPr sz="1100" b="0" i="0">
                <a:solidFill>
                  <a:srgbClr val="FFFFFF"/>
                </a:solidFill>
                <a:latin typeface="Calibri"/>
              </a:rPr>
              <a:t>Median Absolute
% Error</a:t>
            </a:r>
          </a:p>
        </p:txBody>
      </p:sp>
      <p:sp>
        <p:nvSpPr>
          <p:cNvPr id="14" name="TextBox 13"/>
          <p:cNvSpPr txBox="1"/>
          <p:nvPr/>
        </p:nvSpPr>
        <p:spPr>
          <a:xfrm>
            <a:off x="3328416" y="2423160"/>
            <a:ext cx="2468880" cy="201168"/>
          </a:xfrm>
          <a:prstGeom prst="rect">
            <a:avLst/>
          </a:prstGeom>
          <a:noFill/>
        </p:spPr>
        <p:txBody>
          <a:bodyPr wrap="square">
            <a:spAutoFit/>
          </a:bodyPr>
          <a:lstStyle/>
          <a:p>
            <a:pPr algn="ctr"/>
            <a:r>
              <a:rPr sz="950" b="0" i="1">
                <a:solidFill>
                  <a:srgbClr val="90A8C8"/>
                </a:solidFill>
                <a:latin typeface="Calibri"/>
              </a:rPr>
              <a:t>more representative</a:t>
            </a:r>
          </a:p>
        </p:txBody>
      </p:sp>
      <p:sp>
        <p:nvSpPr>
          <p:cNvPr id="15" name="Rectangle 14"/>
          <p:cNvSpPr/>
          <p:nvPr/>
        </p:nvSpPr>
        <p:spPr>
          <a:xfrm>
            <a:off x="6053328" y="1234440"/>
            <a:ext cx="2724912" cy="1389888"/>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81344" y="1298448"/>
            <a:ext cx="2468880" cy="658368"/>
          </a:xfrm>
          <a:prstGeom prst="rect">
            <a:avLst/>
          </a:prstGeom>
          <a:noFill/>
        </p:spPr>
        <p:txBody>
          <a:bodyPr wrap="square">
            <a:spAutoFit/>
          </a:bodyPr>
          <a:lstStyle/>
          <a:p>
            <a:pPr algn="ctr"/>
            <a:r>
              <a:rPr sz="4200" b="1" i="0">
                <a:solidFill>
                  <a:srgbClr val="CADCFC"/>
                </a:solidFill>
                <a:latin typeface="Calibri"/>
              </a:rPr>
              <a:t>0.610</a:t>
            </a:r>
          </a:p>
        </p:txBody>
      </p:sp>
      <p:sp>
        <p:nvSpPr>
          <p:cNvPr id="17" name="TextBox 16"/>
          <p:cNvSpPr txBox="1"/>
          <p:nvPr/>
        </p:nvSpPr>
        <p:spPr>
          <a:xfrm>
            <a:off x="6181344" y="1965960"/>
            <a:ext cx="2468880" cy="475488"/>
          </a:xfrm>
          <a:prstGeom prst="rect">
            <a:avLst/>
          </a:prstGeom>
          <a:noFill/>
        </p:spPr>
        <p:txBody>
          <a:bodyPr wrap="square">
            <a:spAutoFit/>
          </a:bodyPr>
          <a:lstStyle/>
          <a:p>
            <a:pPr algn="ctr"/>
            <a:r>
              <a:rPr sz="1100" b="0" i="0">
                <a:solidFill>
                  <a:srgbClr val="FFFFFF"/>
                </a:solidFill>
                <a:latin typeface="Calibri"/>
              </a:rPr>
              <a:t>RMSE
(log-price)</a:t>
            </a:r>
          </a:p>
        </p:txBody>
      </p:sp>
      <p:sp>
        <p:nvSpPr>
          <p:cNvPr id="18" name="TextBox 17"/>
          <p:cNvSpPr txBox="1"/>
          <p:nvPr/>
        </p:nvSpPr>
        <p:spPr>
          <a:xfrm>
            <a:off x="6181344" y="2423160"/>
            <a:ext cx="2468880" cy="201168"/>
          </a:xfrm>
          <a:prstGeom prst="rect">
            <a:avLst/>
          </a:prstGeom>
          <a:noFill/>
        </p:spPr>
        <p:txBody>
          <a:bodyPr wrap="square">
            <a:spAutoFit/>
          </a:bodyPr>
          <a:lstStyle/>
          <a:p>
            <a:pPr algn="ctr"/>
            <a:r>
              <a:rPr sz="950" b="0" i="1">
                <a:solidFill>
                  <a:srgbClr val="90A8C8"/>
                </a:solidFill>
                <a:latin typeface="Calibri"/>
              </a:rPr>
              <a:t>vs 0.494 on validation</a:t>
            </a:r>
          </a:p>
        </p:txBody>
      </p:sp>
      <p:sp>
        <p:nvSpPr>
          <p:cNvPr id="19" name="TextBox 18"/>
          <p:cNvSpPr txBox="1"/>
          <p:nvPr/>
        </p:nvSpPr>
        <p:spPr>
          <a:xfrm>
            <a:off x="347472" y="2761488"/>
            <a:ext cx="8458200" cy="347472"/>
          </a:xfrm>
          <a:prstGeom prst="rect">
            <a:avLst/>
          </a:prstGeom>
          <a:noFill/>
        </p:spPr>
        <p:txBody>
          <a:bodyPr wrap="square">
            <a:spAutoFit/>
          </a:bodyPr>
          <a:lstStyle/>
          <a:p>
            <a:pPr algn="l"/>
            <a:r>
              <a:rPr sz="1400" b="1" i="0">
                <a:solidFill>
                  <a:srgbClr val="CADCFC"/>
                </a:solidFill>
                <a:latin typeface="Calibri"/>
              </a:rPr>
              <a:t>MAPE by Price Tier</a:t>
            </a:r>
          </a:p>
        </p:txBody>
      </p:sp>
      <p:graphicFrame>
        <p:nvGraphicFramePr>
          <p:cNvPr id="20" name="Table 19"/>
          <p:cNvGraphicFramePr>
            <a:graphicFrameLocks noGrp="1"/>
          </p:cNvGraphicFramePr>
          <p:nvPr>
            <p:extLst>
              <p:ext uri="{D42A27DB-BD31-4B8C-83A1-F6EECF244321}">
                <p14:modId xmlns:p14="http://schemas.microsoft.com/office/powerpoint/2010/main" val="1582990031"/>
              </p:ext>
            </p:extLst>
          </p:nvPr>
        </p:nvGraphicFramePr>
        <p:xfrm>
          <a:off x="347471" y="3154679"/>
          <a:ext cx="8458200" cy="1355084"/>
        </p:xfrm>
        <a:graphic>
          <a:graphicData uri="http://schemas.openxmlformats.org/drawingml/2006/table">
            <a:tbl>
              <a:tblPr firstRow="1" bandRow="1">
                <a:tableStyleId>{5C22544A-7EE6-4342-B048-85BDC9FD1C3A}</a:tableStyleId>
              </a:tblPr>
              <a:tblGrid>
                <a:gridCol w="1333086">
                  <a:extLst>
                    <a:ext uri="{9D8B030D-6E8A-4147-A177-3AD203B41FA5}">
                      <a16:colId xmlns:a16="http://schemas.microsoft.com/office/drawing/2014/main" val="20000"/>
                    </a:ext>
                  </a:extLst>
                </a:gridCol>
                <a:gridCol w="965338">
                  <a:extLst>
                    <a:ext uri="{9D8B030D-6E8A-4147-A177-3AD203B41FA5}">
                      <a16:colId xmlns:a16="http://schemas.microsoft.com/office/drawing/2014/main" val="20001"/>
                    </a:ext>
                  </a:extLst>
                </a:gridCol>
                <a:gridCol w="1149211">
                  <a:extLst>
                    <a:ext uri="{9D8B030D-6E8A-4147-A177-3AD203B41FA5}">
                      <a16:colId xmlns:a16="http://schemas.microsoft.com/office/drawing/2014/main" val="20002"/>
                    </a:ext>
                  </a:extLst>
                </a:gridCol>
                <a:gridCol w="781464">
                  <a:extLst>
                    <a:ext uri="{9D8B030D-6E8A-4147-A177-3AD203B41FA5}">
                      <a16:colId xmlns:a16="http://schemas.microsoft.com/office/drawing/2014/main" val="20003"/>
                    </a:ext>
                  </a:extLst>
                </a:gridCol>
                <a:gridCol w="4229101">
                  <a:extLst>
                    <a:ext uri="{9D8B030D-6E8A-4147-A177-3AD203B41FA5}">
                      <a16:colId xmlns:a16="http://schemas.microsoft.com/office/drawing/2014/main" val="20004"/>
                    </a:ext>
                  </a:extLst>
                </a:gridCol>
              </a:tblGrid>
              <a:tr h="277356">
                <a:tc>
                  <a:txBody>
                    <a:bodyPr/>
                    <a:lstStyle/>
                    <a:p>
                      <a:pPr algn="ctr"/>
                      <a:r>
                        <a:rPr sz="1150" b="1">
                          <a:solidFill>
                            <a:srgbClr val="FFFFFF"/>
                          </a:solidFill>
                          <a:latin typeface="Calibri"/>
                        </a:rPr>
                        <a:t>Price Tier</a:t>
                      </a:r>
                    </a:p>
                  </a:txBody>
                  <a:tcPr>
                    <a:solidFill>
                      <a:srgbClr val="0077B6"/>
                    </a:solidFill>
                  </a:tcPr>
                </a:tc>
                <a:tc>
                  <a:txBody>
                    <a:bodyPr/>
                    <a:lstStyle/>
                    <a:p>
                      <a:pPr algn="ctr"/>
                      <a:r>
                        <a:rPr sz="1150" b="1">
                          <a:solidFill>
                            <a:srgbClr val="FFFFFF"/>
                          </a:solidFill>
                          <a:latin typeface="Calibri"/>
                        </a:rPr>
                        <a:t>MAPE</a:t>
                      </a:r>
                    </a:p>
                  </a:txBody>
                  <a:tcPr>
                    <a:solidFill>
                      <a:srgbClr val="0077B6"/>
                    </a:solidFill>
                  </a:tcPr>
                </a:tc>
                <a:tc>
                  <a:txBody>
                    <a:bodyPr/>
                    <a:lstStyle/>
                    <a:p>
                      <a:pPr algn="ctr"/>
                      <a:r>
                        <a:rPr sz="1150" b="1">
                          <a:solidFill>
                            <a:srgbClr val="FFFFFF"/>
                          </a:solidFill>
                          <a:latin typeface="Calibri"/>
                        </a:rPr>
                        <a:t>Median APE</a:t>
                      </a:r>
                    </a:p>
                  </a:txBody>
                  <a:tcPr>
                    <a:solidFill>
                      <a:srgbClr val="0077B6"/>
                    </a:solidFill>
                  </a:tcPr>
                </a:tc>
                <a:tc>
                  <a:txBody>
                    <a:bodyPr/>
                    <a:lstStyle/>
                    <a:p>
                      <a:pPr algn="ctr"/>
                      <a:r>
                        <a:rPr sz="1150" b="1">
                          <a:solidFill>
                            <a:srgbClr val="FFFFFF"/>
                          </a:solidFill>
                          <a:latin typeface="Calibri"/>
                        </a:rPr>
                        <a:t>n</a:t>
                      </a:r>
                    </a:p>
                  </a:txBody>
                  <a:tcPr>
                    <a:solidFill>
                      <a:srgbClr val="0077B6"/>
                    </a:solidFill>
                  </a:tcPr>
                </a:tc>
                <a:tc>
                  <a:txBody>
                    <a:bodyPr/>
                    <a:lstStyle/>
                    <a:p>
                      <a:pPr algn="l"/>
                      <a:r>
                        <a:rPr sz="1150" b="1" dirty="0">
                          <a:solidFill>
                            <a:srgbClr val="FFFFFF"/>
                          </a:solidFill>
                          <a:latin typeface="Calibri"/>
                        </a:rPr>
                        <a:t>Note</a:t>
                      </a:r>
                    </a:p>
                  </a:txBody>
                  <a:tcPr>
                    <a:solidFill>
                      <a:srgbClr val="0077B6"/>
                    </a:solidFill>
                  </a:tcPr>
                </a:tc>
                <a:extLst>
                  <a:ext uri="{0D108BD9-81ED-4DB2-BD59-A6C34878D82A}">
                    <a16:rowId xmlns:a16="http://schemas.microsoft.com/office/drawing/2014/main" val="10000"/>
                  </a:ext>
                </a:extLst>
              </a:tr>
              <a:tr h="269432">
                <a:tc>
                  <a:txBody>
                    <a:bodyPr/>
                    <a:lstStyle/>
                    <a:p>
                      <a:pPr algn="ctr"/>
                      <a:r>
                        <a:rPr sz="1100" b="0">
                          <a:solidFill>
                            <a:srgbClr val="FFFFFF"/>
                          </a:solidFill>
                          <a:latin typeface="Calibri"/>
                        </a:rPr>
                        <a:t>$0–300k</a:t>
                      </a:r>
                    </a:p>
                  </a:txBody>
                  <a:tcPr>
                    <a:solidFill>
                      <a:srgbClr val="1E385A"/>
                    </a:solidFill>
                  </a:tcPr>
                </a:tc>
                <a:tc>
                  <a:txBody>
                    <a:bodyPr/>
                    <a:lstStyle/>
                    <a:p>
                      <a:pPr algn="ctr"/>
                      <a:r>
                        <a:rPr sz="1100" b="0">
                          <a:solidFill>
                            <a:srgbClr val="FFFFFF"/>
                          </a:solidFill>
                          <a:latin typeface="Calibri"/>
                        </a:rPr>
                        <a:t>69.2%</a:t>
                      </a:r>
                    </a:p>
                  </a:txBody>
                  <a:tcPr>
                    <a:solidFill>
                      <a:srgbClr val="1E385A"/>
                    </a:solidFill>
                  </a:tcPr>
                </a:tc>
                <a:tc>
                  <a:txBody>
                    <a:bodyPr/>
                    <a:lstStyle/>
                    <a:p>
                      <a:pPr algn="ctr"/>
                      <a:r>
                        <a:rPr sz="1100" b="0">
                          <a:solidFill>
                            <a:srgbClr val="FFFFFF"/>
                          </a:solidFill>
                          <a:latin typeface="Calibri"/>
                        </a:rPr>
                        <a:t>36.8%</a:t>
                      </a:r>
                    </a:p>
                  </a:txBody>
                  <a:tcPr>
                    <a:solidFill>
                      <a:srgbClr val="1E385A"/>
                    </a:solidFill>
                  </a:tcPr>
                </a:tc>
                <a:tc>
                  <a:txBody>
                    <a:bodyPr/>
                    <a:lstStyle/>
                    <a:p>
                      <a:pPr algn="ctr"/>
                      <a:r>
                        <a:rPr sz="1100" b="0">
                          <a:solidFill>
                            <a:srgbClr val="FFFFFF"/>
                          </a:solidFill>
                          <a:latin typeface="Calibri"/>
                        </a:rPr>
                        <a:t>2,148</a:t>
                      </a:r>
                    </a:p>
                  </a:txBody>
                  <a:tcPr>
                    <a:solidFill>
                      <a:srgbClr val="1E385A"/>
                    </a:solidFill>
                  </a:tcPr>
                </a:tc>
                <a:tc>
                  <a:txBody>
                    <a:bodyPr/>
                    <a:lstStyle/>
                    <a:p>
                      <a:pPr algn="l"/>
                      <a:r>
                        <a:rPr sz="1100" b="0">
                          <a:solidFill>
                            <a:srgbClr val="FFFFFF"/>
                          </a:solidFill>
                          <a:latin typeface="Calibri"/>
                        </a:rPr>
                        <a:t>Distressed/foreclosure sales skew this tier</a:t>
                      </a:r>
                    </a:p>
                  </a:txBody>
                  <a:tcPr>
                    <a:solidFill>
                      <a:srgbClr val="1E385A"/>
                    </a:solidFill>
                  </a:tcPr>
                </a:tc>
                <a:extLst>
                  <a:ext uri="{0D108BD9-81ED-4DB2-BD59-A6C34878D82A}">
                    <a16:rowId xmlns:a16="http://schemas.microsoft.com/office/drawing/2014/main" val="10001"/>
                  </a:ext>
                </a:extLst>
              </a:tr>
              <a:tr h="269432">
                <a:tc>
                  <a:txBody>
                    <a:bodyPr/>
                    <a:lstStyle/>
                    <a:p>
                      <a:pPr algn="ctr"/>
                      <a:r>
                        <a:rPr sz="1100" b="0">
                          <a:solidFill>
                            <a:srgbClr val="FFFFFF"/>
                          </a:solidFill>
                          <a:latin typeface="Calibri"/>
                        </a:rPr>
                        <a:t>$300–600k</a:t>
                      </a:r>
                    </a:p>
                  </a:txBody>
                  <a:tcPr>
                    <a:solidFill>
                      <a:srgbClr val="2E4A7C"/>
                    </a:solidFill>
                  </a:tcPr>
                </a:tc>
                <a:tc>
                  <a:txBody>
                    <a:bodyPr/>
                    <a:lstStyle/>
                    <a:p>
                      <a:pPr algn="ctr"/>
                      <a:r>
                        <a:rPr sz="1100" b="0">
                          <a:solidFill>
                            <a:srgbClr val="FFFFFF"/>
                          </a:solidFill>
                          <a:latin typeface="Calibri"/>
                        </a:rPr>
                        <a:t>28.8%</a:t>
                      </a:r>
                    </a:p>
                  </a:txBody>
                  <a:tcPr>
                    <a:solidFill>
                      <a:srgbClr val="2E4A7C"/>
                    </a:solidFill>
                  </a:tcPr>
                </a:tc>
                <a:tc>
                  <a:txBody>
                    <a:bodyPr/>
                    <a:lstStyle/>
                    <a:p>
                      <a:pPr algn="ctr"/>
                      <a:r>
                        <a:rPr sz="1100" b="0">
                          <a:solidFill>
                            <a:srgbClr val="FFFFFF"/>
                          </a:solidFill>
                          <a:latin typeface="Calibri"/>
                        </a:rPr>
                        <a:t>21.1%</a:t>
                      </a:r>
                    </a:p>
                  </a:txBody>
                  <a:tcPr>
                    <a:solidFill>
                      <a:srgbClr val="2E4A7C"/>
                    </a:solidFill>
                  </a:tcPr>
                </a:tc>
                <a:tc>
                  <a:txBody>
                    <a:bodyPr/>
                    <a:lstStyle/>
                    <a:p>
                      <a:pPr algn="ctr"/>
                      <a:r>
                        <a:rPr sz="1100" b="0">
                          <a:solidFill>
                            <a:srgbClr val="FFFFFF"/>
                          </a:solidFill>
                          <a:latin typeface="Calibri"/>
                        </a:rPr>
                        <a:t>2,145</a:t>
                      </a:r>
                    </a:p>
                  </a:txBody>
                  <a:tcPr>
                    <a:solidFill>
                      <a:srgbClr val="2E4A7C"/>
                    </a:solidFill>
                  </a:tcPr>
                </a:tc>
                <a:tc>
                  <a:txBody>
                    <a:bodyPr/>
                    <a:lstStyle/>
                    <a:p>
                      <a:pPr algn="l"/>
                      <a:r>
                        <a:rPr sz="1100" b="0">
                          <a:solidFill>
                            <a:srgbClr val="FFFFFF"/>
                          </a:solidFill>
                          <a:latin typeface="Calibri"/>
                        </a:rPr>
                        <a:t>Best tier — densest training data</a:t>
                      </a:r>
                    </a:p>
                  </a:txBody>
                  <a:tcPr>
                    <a:solidFill>
                      <a:srgbClr val="2E4A7C"/>
                    </a:solidFill>
                  </a:tcPr>
                </a:tc>
                <a:extLst>
                  <a:ext uri="{0D108BD9-81ED-4DB2-BD59-A6C34878D82A}">
                    <a16:rowId xmlns:a16="http://schemas.microsoft.com/office/drawing/2014/main" val="10002"/>
                  </a:ext>
                </a:extLst>
              </a:tr>
              <a:tr h="269432">
                <a:tc>
                  <a:txBody>
                    <a:bodyPr/>
                    <a:lstStyle/>
                    <a:p>
                      <a:pPr algn="ctr"/>
                      <a:r>
                        <a:rPr sz="1100" b="0">
                          <a:solidFill>
                            <a:srgbClr val="FFFFFF"/>
                          </a:solidFill>
                          <a:latin typeface="Calibri"/>
                        </a:rPr>
                        <a:t>$600k–1M</a:t>
                      </a:r>
                    </a:p>
                  </a:txBody>
                  <a:tcPr>
                    <a:solidFill>
                      <a:srgbClr val="1E385A"/>
                    </a:solidFill>
                  </a:tcPr>
                </a:tc>
                <a:tc>
                  <a:txBody>
                    <a:bodyPr/>
                    <a:lstStyle/>
                    <a:p>
                      <a:pPr algn="ctr"/>
                      <a:r>
                        <a:rPr sz="1100" b="0">
                          <a:solidFill>
                            <a:srgbClr val="FFFFFF"/>
                          </a:solidFill>
                          <a:latin typeface="Calibri"/>
                        </a:rPr>
                        <a:t>31.0%</a:t>
                      </a:r>
                    </a:p>
                  </a:txBody>
                  <a:tcPr>
                    <a:solidFill>
                      <a:srgbClr val="1E385A"/>
                    </a:solidFill>
                  </a:tcPr>
                </a:tc>
                <a:tc>
                  <a:txBody>
                    <a:bodyPr/>
                    <a:lstStyle/>
                    <a:p>
                      <a:pPr algn="ctr"/>
                      <a:r>
                        <a:rPr sz="1100" b="0">
                          <a:solidFill>
                            <a:srgbClr val="FFFFFF"/>
                          </a:solidFill>
                          <a:latin typeface="Calibri"/>
                        </a:rPr>
                        <a:t>24.6%</a:t>
                      </a:r>
                    </a:p>
                  </a:txBody>
                  <a:tcPr>
                    <a:solidFill>
                      <a:srgbClr val="1E385A"/>
                    </a:solidFill>
                  </a:tcPr>
                </a:tc>
                <a:tc>
                  <a:txBody>
                    <a:bodyPr/>
                    <a:lstStyle/>
                    <a:p>
                      <a:pPr algn="ctr"/>
                      <a:r>
                        <a:rPr sz="1100" b="0">
                          <a:solidFill>
                            <a:srgbClr val="FFFFFF"/>
                          </a:solidFill>
                          <a:latin typeface="Calibri"/>
                        </a:rPr>
                        <a:t>2,105</a:t>
                      </a:r>
                    </a:p>
                  </a:txBody>
                  <a:tcPr>
                    <a:solidFill>
                      <a:srgbClr val="1E385A"/>
                    </a:solidFill>
                  </a:tcPr>
                </a:tc>
                <a:tc>
                  <a:txBody>
                    <a:bodyPr/>
                    <a:lstStyle/>
                    <a:p>
                      <a:pPr algn="l"/>
                      <a:r>
                        <a:rPr sz="1100" b="0">
                          <a:solidFill>
                            <a:srgbClr val="FFFFFF"/>
                          </a:solidFill>
                          <a:latin typeface="Calibri"/>
                        </a:rPr>
                        <a:t>AVM + market signal closes the gap at runtime</a:t>
                      </a:r>
                    </a:p>
                  </a:txBody>
                  <a:tcPr>
                    <a:solidFill>
                      <a:srgbClr val="1E385A"/>
                    </a:solidFill>
                  </a:tcPr>
                </a:tc>
                <a:extLst>
                  <a:ext uri="{0D108BD9-81ED-4DB2-BD59-A6C34878D82A}">
                    <a16:rowId xmlns:a16="http://schemas.microsoft.com/office/drawing/2014/main" val="10003"/>
                  </a:ext>
                </a:extLst>
              </a:tr>
              <a:tr h="269432">
                <a:tc>
                  <a:txBody>
                    <a:bodyPr/>
                    <a:lstStyle/>
                    <a:p>
                      <a:pPr algn="ctr"/>
                      <a:r>
                        <a:rPr sz="1100" b="0">
                          <a:solidFill>
                            <a:srgbClr val="FFFFFF"/>
                          </a:solidFill>
                          <a:latin typeface="Calibri"/>
                        </a:rPr>
                        <a:t>$1M+</a:t>
                      </a:r>
                    </a:p>
                  </a:txBody>
                  <a:tcPr>
                    <a:solidFill>
                      <a:srgbClr val="2E4A7C"/>
                    </a:solidFill>
                  </a:tcPr>
                </a:tc>
                <a:tc>
                  <a:txBody>
                    <a:bodyPr/>
                    <a:lstStyle/>
                    <a:p>
                      <a:pPr algn="ctr"/>
                      <a:r>
                        <a:rPr sz="1100" b="0">
                          <a:solidFill>
                            <a:srgbClr val="FFFFFF"/>
                          </a:solidFill>
                          <a:latin typeface="Calibri"/>
                        </a:rPr>
                        <a:t>39.2%</a:t>
                      </a:r>
                    </a:p>
                  </a:txBody>
                  <a:tcPr>
                    <a:solidFill>
                      <a:srgbClr val="2E4A7C"/>
                    </a:solidFill>
                  </a:tcPr>
                </a:tc>
                <a:tc>
                  <a:txBody>
                    <a:bodyPr/>
                    <a:lstStyle/>
                    <a:p>
                      <a:pPr algn="ctr"/>
                      <a:r>
                        <a:rPr sz="1100" b="0">
                          <a:solidFill>
                            <a:srgbClr val="FFFFFF"/>
                          </a:solidFill>
                          <a:latin typeface="Calibri"/>
                        </a:rPr>
                        <a:t>35.4%</a:t>
                      </a:r>
                    </a:p>
                  </a:txBody>
                  <a:tcPr>
                    <a:solidFill>
                      <a:srgbClr val="2E4A7C"/>
                    </a:solidFill>
                  </a:tcPr>
                </a:tc>
                <a:tc>
                  <a:txBody>
                    <a:bodyPr/>
                    <a:lstStyle/>
                    <a:p>
                      <a:pPr algn="ctr"/>
                      <a:r>
                        <a:rPr sz="1100" b="0">
                          <a:solidFill>
                            <a:srgbClr val="FFFFFF"/>
                          </a:solidFill>
                          <a:latin typeface="Calibri"/>
                        </a:rPr>
                        <a:t>2,047</a:t>
                      </a:r>
                    </a:p>
                  </a:txBody>
                  <a:tcPr>
                    <a:solidFill>
                      <a:srgbClr val="2E4A7C"/>
                    </a:solidFill>
                  </a:tcPr>
                </a:tc>
                <a:tc>
                  <a:txBody>
                    <a:bodyPr/>
                    <a:lstStyle/>
                    <a:p>
                      <a:pPr algn="l"/>
                      <a:r>
                        <a:rPr sz="1100" b="0" dirty="0">
                          <a:solidFill>
                            <a:srgbClr val="FFFFFF"/>
                          </a:solidFill>
                          <a:latin typeface="Calibri"/>
                        </a:rPr>
                        <a:t>Thin comps — premium boost helps at inference</a:t>
                      </a:r>
                    </a:p>
                  </a:txBody>
                  <a:tcPr>
                    <a:solidFill>
                      <a:srgbClr val="2E4A7C"/>
                    </a:solidFill>
                  </a:tcPr>
                </a:tc>
                <a:extLst>
                  <a:ext uri="{0D108BD9-81ED-4DB2-BD59-A6C34878D82A}">
                    <a16:rowId xmlns:a16="http://schemas.microsoft.com/office/drawing/2014/main" val="10004"/>
                  </a:ext>
                </a:extLst>
              </a:tr>
            </a:tbl>
          </a:graphicData>
        </a:graphic>
      </p:graphicFrame>
      <p:sp>
        <p:nvSpPr>
          <p:cNvPr id="21" name="Rectangle 20"/>
          <p:cNvSpPr/>
          <p:nvPr/>
        </p:nvSpPr>
        <p:spPr>
          <a:xfrm>
            <a:off x="351637" y="4672584"/>
            <a:ext cx="8458200" cy="384048"/>
          </a:xfrm>
          <a:prstGeom prst="rect">
            <a:avLst/>
          </a:prstGeom>
          <a:solidFill>
            <a:srgbClr val="0A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 y="4672584"/>
            <a:ext cx="658368" cy="329184"/>
          </a:xfrm>
          <a:prstGeom prst="rect">
            <a:avLst/>
          </a:prstGeom>
          <a:noFill/>
        </p:spPr>
        <p:txBody>
          <a:bodyPr wrap="square">
            <a:spAutoFit/>
          </a:bodyPr>
          <a:lstStyle/>
          <a:p>
            <a:pPr algn="l"/>
            <a:r>
              <a:rPr sz="1000" b="1" i="0">
                <a:solidFill>
                  <a:srgbClr val="059669"/>
                </a:solidFill>
                <a:latin typeface="Calibri"/>
              </a:rPr>
              <a:t>Best:</a:t>
            </a:r>
          </a:p>
        </p:txBody>
      </p:sp>
      <p:sp>
        <p:nvSpPr>
          <p:cNvPr id="23" name="TextBox 22"/>
          <p:cNvSpPr txBox="1"/>
          <p:nvPr/>
        </p:nvSpPr>
        <p:spPr>
          <a:xfrm>
            <a:off x="1115568" y="4672584"/>
            <a:ext cx="3383280" cy="329184"/>
          </a:xfrm>
          <a:prstGeom prst="rect">
            <a:avLst/>
          </a:prstGeom>
          <a:noFill/>
        </p:spPr>
        <p:txBody>
          <a:bodyPr wrap="square">
            <a:spAutoFit/>
          </a:bodyPr>
          <a:lstStyle/>
          <a:p>
            <a:pPr algn="l"/>
            <a:r>
              <a:rPr sz="1000" b="0" i="0" dirty="0">
                <a:solidFill>
                  <a:srgbClr val="6EE7B7"/>
                </a:solidFill>
                <a:latin typeface="Calibri"/>
              </a:rPr>
              <a:t>Arizona 28.8%  ·  Kansas 31.1%  ·  Illinois 31.4%  ·  Maryland 32.6%</a:t>
            </a:r>
          </a:p>
        </p:txBody>
      </p:sp>
      <p:sp>
        <p:nvSpPr>
          <p:cNvPr id="24" name="TextBox 23"/>
          <p:cNvSpPr txBox="1"/>
          <p:nvPr/>
        </p:nvSpPr>
        <p:spPr>
          <a:xfrm>
            <a:off x="4663440" y="4672584"/>
            <a:ext cx="1005840" cy="329184"/>
          </a:xfrm>
          <a:prstGeom prst="rect">
            <a:avLst/>
          </a:prstGeom>
          <a:noFill/>
        </p:spPr>
        <p:txBody>
          <a:bodyPr wrap="square">
            <a:spAutoFit/>
          </a:bodyPr>
          <a:lstStyle/>
          <a:p>
            <a:pPr algn="l"/>
            <a:r>
              <a:rPr sz="1000" b="1" i="0">
                <a:solidFill>
                  <a:srgbClr val="FCA5A5"/>
                </a:solidFill>
                <a:latin typeface="Calibri"/>
              </a:rPr>
              <a:t>Highest:</a:t>
            </a:r>
          </a:p>
        </p:txBody>
      </p:sp>
      <p:sp>
        <p:nvSpPr>
          <p:cNvPr id="25" name="TextBox 24"/>
          <p:cNvSpPr txBox="1"/>
          <p:nvPr/>
        </p:nvSpPr>
        <p:spPr>
          <a:xfrm>
            <a:off x="5687568" y="4672584"/>
            <a:ext cx="3017520" cy="329184"/>
          </a:xfrm>
          <a:prstGeom prst="rect">
            <a:avLst/>
          </a:prstGeom>
          <a:noFill/>
        </p:spPr>
        <p:txBody>
          <a:bodyPr wrap="square">
            <a:spAutoFit/>
          </a:bodyPr>
          <a:lstStyle/>
          <a:p>
            <a:pPr algn="l"/>
            <a:r>
              <a:rPr sz="1000" b="0" i="0">
                <a:solidFill>
                  <a:srgbClr val="FDBABA"/>
                </a:solidFill>
                <a:latin typeface="Calibri"/>
              </a:rPr>
              <a:t>California 54.5%  ·  Hawaii 54.5%  ·  Florida 51.8%  ·  DC 46.4%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87"/>
            <a:ext cx="9144000" cy="514350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36576"/>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0040" y="137160"/>
            <a:ext cx="54864" cy="62179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28016"/>
            <a:ext cx="8138160" cy="685800"/>
          </a:xfrm>
          <a:prstGeom prst="rect">
            <a:avLst/>
          </a:prstGeom>
          <a:noFill/>
        </p:spPr>
        <p:txBody>
          <a:bodyPr wrap="square">
            <a:spAutoFit/>
          </a:bodyPr>
          <a:lstStyle/>
          <a:p>
            <a:pPr algn="l"/>
            <a:r>
              <a:rPr sz="2800" b="1" i="0">
                <a:solidFill>
                  <a:srgbClr val="1A1A2E"/>
                </a:solidFill>
                <a:latin typeface="Calibri"/>
              </a:rPr>
              <a:t>Real-World Validation  &amp;  Conclusion</a:t>
            </a:r>
          </a:p>
        </p:txBody>
      </p:sp>
      <p:sp>
        <p:nvSpPr>
          <p:cNvPr id="6" name="Rectangle 5"/>
          <p:cNvSpPr/>
          <p:nvPr/>
        </p:nvSpPr>
        <p:spPr>
          <a:xfrm>
            <a:off x="320040" y="822960"/>
            <a:ext cx="850392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7472" y="960120"/>
            <a:ext cx="5212080" cy="27889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47472" y="960120"/>
            <a:ext cx="91440" cy="2788920"/>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1024128"/>
            <a:ext cx="4828032" cy="475488"/>
          </a:xfrm>
          <a:prstGeom prst="rect">
            <a:avLst/>
          </a:prstGeom>
          <a:noFill/>
        </p:spPr>
        <p:txBody>
          <a:bodyPr wrap="square">
            <a:spAutoFit/>
          </a:bodyPr>
          <a:lstStyle/>
          <a:p>
            <a:pPr algn="l"/>
            <a:r>
              <a:rPr sz="1300" b="1" i="0">
                <a:solidFill>
                  <a:srgbClr val="CADCFC"/>
                </a:solidFill>
                <a:latin typeface="Calibri"/>
              </a:rPr>
              <a:t>Full-Pipeline Test  —  Known Sold Home</a:t>
            </a:r>
          </a:p>
        </p:txBody>
      </p:sp>
      <p:sp>
        <p:nvSpPr>
          <p:cNvPr id="10" name="Rectangle 9"/>
          <p:cNvSpPr/>
          <p:nvPr/>
        </p:nvSpPr>
        <p:spPr>
          <a:xfrm>
            <a:off x="594360" y="1536192"/>
            <a:ext cx="4736592" cy="32004"/>
          </a:xfrm>
          <a:prstGeom prst="rect">
            <a:avLst/>
          </a:prstGeom>
          <a:solidFill>
            <a:srgbClr val="3A5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1627632"/>
            <a:ext cx="1417320" cy="329184"/>
          </a:xfrm>
          <a:prstGeom prst="rect">
            <a:avLst/>
          </a:prstGeom>
          <a:noFill/>
        </p:spPr>
        <p:txBody>
          <a:bodyPr wrap="square">
            <a:spAutoFit/>
          </a:bodyPr>
          <a:lstStyle/>
          <a:p>
            <a:pPr algn="l"/>
            <a:r>
              <a:rPr sz="1150" b="1" i="0">
                <a:solidFill>
                  <a:srgbClr val="CADCFC"/>
                </a:solidFill>
                <a:latin typeface="Calibri"/>
              </a:rPr>
              <a:t>Property:</a:t>
            </a:r>
          </a:p>
        </p:txBody>
      </p:sp>
      <p:sp>
        <p:nvSpPr>
          <p:cNvPr id="12" name="TextBox 11"/>
          <p:cNvSpPr txBox="1"/>
          <p:nvPr/>
        </p:nvSpPr>
        <p:spPr>
          <a:xfrm>
            <a:off x="2029968" y="1627632"/>
            <a:ext cx="3291840" cy="329184"/>
          </a:xfrm>
          <a:prstGeom prst="rect">
            <a:avLst/>
          </a:prstGeom>
          <a:noFill/>
        </p:spPr>
        <p:txBody>
          <a:bodyPr wrap="square">
            <a:spAutoFit/>
          </a:bodyPr>
          <a:lstStyle/>
          <a:p>
            <a:pPr algn="l"/>
            <a:r>
              <a:rPr sz="1150" b="0" i="0">
                <a:solidFill>
                  <a:srgbClr val="CADCFC"/>
                </a:solidFill>
                <a:latin typeface="Calibri"/>
              </a:rPr>
              <a:t>Olney, MD  ·  4 bd / 3 ba / 2,552 sqft</a:t>
            </a:r>
          </a:p>
        </p:txBody>
      </p:sp>
      <p:sp>
        <p:nvSpPr>
          <p:cNvPr id="13" name="TextBox 12"/>
          <p:cNvSpPr txBox="1"/>
          <p:nvPr/>
        </p:nvSpPr>
        <p:spPr>
          <a:xfrm>
            <a:off x="594360" y="1965960"/>
            <a:ext cx="1417320" cy="329184"/>
          </a:xfrm>
          <a:prstGeom prst="rect">
            <a:avLst/>
          </a:prstGeom>
          <a:noFill/>
        </p:spPr>
        <p:txBody>
          <a:bodyPr wrap="square">
            <a:spAutoFit/>
          </a:bodyPr>
          <a:lstStyle/>
          <a:p>
            <a:pPr algn="l"/>
            <a:r>
              <a:rPr sz="1150" b="1" i="0">
                <a:solidFill>
                  <a:srgbClr val="CADCFC"/>
                </a:solidFill>
                <a:latin typeface="Calibri"/>
              </a:rPr>
              <a:t>Actual:</a:t>
            </a:r>
          </a:p>
        </p:txBody>
      </p:sp>
      <p:sp>
        <p:nvSpPr>
          <p:cNvPr id="14" name="TextBox 13"/>
          <p:cNvSpPr txBox="1"/>
          <p:nvPr/>
        </p:nvSpPr>
        <p:spPr>
          <a:xfrm>
            <a:off x="2029968" y="1965960"/>
            <a:ext cx="3291840" cy="329184"/>
          </a:xfrm>
          <a:prstGeom prst="rect">
            <a:avLst/>
          </a:prstGeom>
          <a:noFill/>
        </p:spPr>
        <p:txBody>
          <a:bodyPr wrap="square">
            <a:spAutoFit/>
          </a:bodyPr>
          <a:lstStyle/>
          <a:p>
            <a:pPr algn="l"/>
            <a:r>
              <a:rPr sz="1150" b="0" i="0">
                <a:solidFill>
                  <a:srgbClr val="CADCFC"/>
                </a:solidFill>
                <a:latin typeface="Calibri"/>
              </a:rPr>
              <a:t>$931,000</a:t>
            </a:r>
          </a:p>
        </p:txBody>
      </p:sp>
      <p:sp>
        <p:nvSpPr>
          <p:cNvPr id="15" name="TextBox 14"/>
          <p:cNvSpPr txBox="1"/>
          <p:nvPr/>
        </p:nvSpPr>
        <p:spPr>
          <a:xfrm>
            <a:off x="594360" y="2304288"/>
            <a:ext cx="1417320" cy="329184"/>
          </a:xfrm>
          <a:prstGeom prst="rect">
            <a:avLst/>
          </a:prstGeom>
          <a:noFill/>
        </p:spPr>
        <p:txBody>
          <a:bodyPr wrap="square">
            <a:spAutoFit/>
          </a:bodyPr>
          <a:lstStyle/>
          <a:p>
            <a:pPr algn="l"/>
            <a:r>
              <a:rPr sz="1150" b="1" i="0">
                <a:solidFill>
                  <a:srgbClr val="CADCFC"/>
                </a:solidFill>
                <a:latin typeface="Calibri"/>
              </a:rPr>
              <a:t>Predicted:</a:t>
            </a:r>
          </a:p>
        </p:txBody>
      </p:sp>
      <p:sp>
        <p:nvSpPr>
          <p:cNvPr id="16" name="TextBox 15"/>
          <p:cNvSpPr txBox="1"/>
          <p:nvPr/>
        </p:nvSpPr>
        <p:spPr>
          <a:xfrm>
            <a:off x="2029968" y="2304288"/>
            <a:ext cx="3291840" cy="329184"/>
          </a:xfrm>
          <a:prstGeom prst="rect">
            <a:avLst/>
          </a:prstGeom>
          <a:noFill/>
        </p:spPr>
        <p:txBody>
          <a:bodyPr wrap="square">
            <a:spAutoFit/>
          </a:bodyPr>
          <a:lstStyle/>
          <a:p>
            <a:pPr algn="l"/>
            <a:r>
              <a:rPr sz="1300" b="1" i="0">
                <a:solidFill>
                  <a:srgbClr val="FFFFFF"/>
                </a:solidFill>
                <a:latin typeface="Calibri"/>
              </a:rPr>
              <a:t>$929,592</a:t>
            </a:r>
          </a:p>
        </p:txBody>
      </p:sp>
      <p:sp>
        <p:nvSpPr>
          <p:cNvPr id="17" name="TextBox 16"/>
          <p:cNvSpPr txBox="1"/>
          <p:nvPr/>
        </p:nvSpPr>
        <p:spPr>
          <a:xfrm>
            <a:off x="594360" y="2642615"/>
            <a:ext cx="1417320" cy="329184"/>
          </a:xfrm>
          <a:prstGeom prst="rect">
            <a:avLst/>
          </a:prstGeom>
          <a:noFill/>
        </p:spPr>
        <p:txBody>
          <a:bodyPr wrap="square">
            <a:spAutoFit/>
          </a:bodyPr>
          <a:lstStyle/>
          <a:p>
            <a:pPr algn="l"/>
            <a:r>
              <a:rPr sz="1150" b="1" i="0">
                <a:solidFill>
                  <a:srgbClr val="CADCFC"/>
                </a:solidFill>
                <a:latin typeface="Calibri"/>
              </a:rPr>
              <a:t>Error:</a:t>
            </a:r>
          </a:p>
        </p:txBody>
      </p:sp>
      <p:sp>
        <p:nvSpPr>
          <p:cNvPr id="18" name="TextBox 17"/>
          <p:cNvSpPr txBox="1"/>
          <p:nvPr/>
        </p:nvSpPr>
        <p:spPr>
          <a:xfrm>
            <a:off x="2029968" y="2642615"/>
            <a:ext cx="3291840" cy="329184"/>
          </a:xfrm>
          <a:prstGeom prst="rect">
            <a:avLst/>
          </a:prstGeom>
          <a:noFill/>
        </p:spPr>
        <p:txBody>
          <a:bodyPr wrap="square">
            <a:spAutoFit/>
          </a:bodyPr>
          <a:lstStyle/>
          <a:p>
            <a:pPr algn="l"/>
            <a:r>
              <a:rPr sz="1300" b="1" i="0">
                <a:solidFill>
                  <a:srgbClr val="059669"/>
                </a:solidFill>
                <a:latin typeface="Calibri"/>
              </a:rPr>
              <a:t>0.15%</a:t>
            </a:r>
          </a:p>
        </p:txBody>
      </p:sp>
      <p:sp>
        <p:nvSpPr>
          <p:cNvPr id="19" name="TextBox 18"/>
          <p:cNvSpPr txBox="1"/>
          <p:nvPr/>
        </p:nvSpPr>
        <p:spPr>
          <a:xfrm>
            <a:off x="594360" y="2980944"/>
            <a:ext cx="1417320" cy="329184"/>
          </a:xfrm>
          <a:prstGeom prst="rect">
            <a:avLst/>
          </a:prstGeom>
          <a:noFill/>
        </p:spPr>
        <p:txBody>
          <a:bodyPr wrap="square">
            <a:spAutoFit/>
          </a:bodyPr>
          <a:lstStyle/>
          <a:p>
            <a:pPr algn="l"/>
            <a:r>
              <a:rPr sz="1150" b="1" i="0">
                <a:solidFill>
                  <a:srgbClr val="CADCFC"/>
                </a:solidFill>
                <a:latin typeface="Calibri"/>
              </a:rPr>
              <a:t>Signals:</a:t>
            </a:r>
          </a:p>
        </p:txBody>
      </p:sp>
      <p:sp>
        <p:nvSpPr>
          <p:cNvPr id="20" name="TextBox 19"/>
          <p:cNvSpPr txBox="1"/>
          <p:nvPr/>
        </p:nvSpPr>
        <p:spPr>
          <a:xfrm>
            <a:off x="2029968" y="2980944"/>
            <a:ext cx="3291840" cy="329184"/>
          </a:xfrm>
          <a:prstGeom prst="rect">
            <a:avLst/>
          </a:prstGeom>
          <a:noFill/>
        </p:spPr>
        <p:txBody>
          <a:bodyPr wrap="square">
            <a:spAutoFit/>
          </a:bodyPr>
          <a:lstStyle/>
          <a:p>
            <a:pPr algn="l"/>
            <a:r>
              <a:rPr sz="1150" b="0" i="0">
                <a:solidFill>
                  <a:srgbClr val="CADCFC"/>
                </a:solidFill>
                <a:latin typeface="Calibri"/>
              </a:rPr>
              <a:t>Structured + AVM + Market + CLIP (3 photos)</a:t>
            </a:r>
          </a:p>
        </p:txBody>
      </p:sp>
      <p:sp>
        <p:nvSpPr>
          <p:cNvPr id="21" name="TextBox 20"/>
          <p:cNvSpPr txBox="1"/>
          <p:nvPr/>
        </p:nvSpPr>
        <p:spPr>
          <a:xfrm>
            <a:off x="594360" y="3319272"/>
            <a:ext cx="1417320" cy="329184"/>
          </a:xfrm>
          <a:prstGeom prst="rect">
            <a:avLst/>
          </a:prstGeom>
          <a:noFill/>
        </p:spPr>
        <p:txBody>
          <a:bodyPr wrap="square">
            <a:spAutoFit/>
          </a:bodyPr>
          <a:lstStyle/>
          <a:p>
            <a:pPr algn="l"/>
            <a:r>
              <a:rPr sz="1150" b="1" i="0">
                <a:solidFill>
                  <a:srgbClr val="CADCFC"/>
                </a:solidFill>
                <a:latin typeface="Calibri"/>
              </a:rPr>
              <a:t>Mechanism:</a:t>
            </a:r>
          </a:p>
        </p:txBody>
      </p:sp>
      <p:sp>
        <p:nvSpPr>
          <p:cNvPr id="22" name="TextBox 21"/>
          <p:cNvSpPr txBox="1"/>
          <p:nvPr/>
        </p:nvSpPr>
        <p:spPr>
          <a:xfrm>
            <a:off x="2029968" y="3319272"/>
            <a:ext cx="3291840" cy="329184"/>
          </a:xfrm>
          <a:prstGeom prst="rect">
            <a:avLst/>
          </a:prstGeom>
          <a:noFill/>
        </p:spPr>
        <p:txBody>
          <a:bodyPr wrap="square">
            <a:spAutoFit/>
          </a:bodyPr>
          <a:lstStyle/>
          <a:p>
            <a:pPr algn="l"/>
            <a:r>
              <a:rPr sz="1150" b="0" i="0">
                <a:solidFill>
                  <a:srgbClr val="CADCFC"/>
                </a:solidFill>
                <a:latin typeface="Calibri"/>
              </a:rPr>
              <a:t>Outlier detection fired; premium boost applied</a:t>
            </a:r>
          </a:p>
        </p:txBody>
      </p:sp>
      <p:sp>
        <p:nvSpPr>
          <p:cNvPr id="23" name="Rectangle 22"/>
          <p:cNvSpPr/>
          <p:nvPr/>
        </p:nvSpPr>
        <p:spPr>
          <a:xfrm>
            <a:off x="347472" y="3566160"/>
            <a:ext cx="5212080" cy="553212"/>
          </a:xfrm>
          <a:prstGeom prst="rect">
            <a:avLst/>
          </a:prstGeom>
          <a:solidFill>
            <a:srgbClr val="0A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TextBox 23"/>
          <p:cNvSpPr txBox="1"/>
          <p:nvPr/>
        </p:nvSpPr>
        <p:spPr>
          <a:xfrm>
            <a:off x="493776" y="3675888"/>
            <a:ext cx="4919472" cy="329184"/>
          </a:xfrm>
          <a:prstGeom prst="rect">
            <a:avLst/>
          </a:prstGeom>
          <a:noFill/>
        </p:spPr>
        <p:txBody>
          <a:bodyPr wrap="square">
            <a:spAutoFit/>
          </a:bodyPr>
          <a:lstStyle/>
          <a:p>
            <a:pPr algn="l"/>
            <a:r>
              <a:rPr sz="1000" b="0" i="1" dirty="0">
                <a:solidFill>
                  <a:srgbClr val="CADCFC"/>
                </a:solidFill>
                <a:latin typeface="Calibri"/>
              </a:rPr>
              <a:t>Structured-only: ~$370,000 (-60% error) — full pipeline is essential for premium markets</a:t>
            </a:r>
          </a:p>
        </p:txBody>
      </p:sp>
      <p:sp>
        <p:nvSpPr>
          <p:cNvPr id="25" name="Rectangle 24"/>
          <p:cNvSpPr/>
          <p:nvPr/>
        </p:nvSpPr>
        <p:spPr>
          <a:xfrm>
            <a:off x="5833872" y="960120"/>
            <a:ext cx="2971800" cy="3913632"/>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833872" y="960120"/>
            <a:ext cx="64008" cy="3913632"/>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53328" y="1005840"/>
            <a:ext cx="2697480" cy="411480"/>
          </a:xfrm>
          <a:prstGeom prst="rect">
            <a:avLst/>
          </a:prstGeom>
          <a:noFill/>
        </p:spPr>
        <p:txBody>
          <a:bodyPr wrap="square">
            <a:spAutoFit/>
          </a:bodyPr>
          <a:lstStyle/>
          <a:p>
            <a:pPr algn="l"/>
            <a:r>
              <a:rPr sz="1300" b="1" i="0">
                <a:solidFill>
                  <a:srgbClr val="1A1A2E"/>
                </a:solidFill>
                <a:latin typeface="Calibri"/>
              </a:rPr>
              <a:t>Key Takeaways</a:t>
            </a:r>
          </a:p>
        </p:txBody>
      </p:sp>
      <p:sp>
        <p:nvSpPr>
          <p:cNvPr id="28" name="Rectangle 27"/>
          <p:cNvSpPr/>
          <p:nvPr/>
        </p:nvSpPr>
        <p:spPr>
          <a:xfrm>
            <a:off x="6053328" y="1463040"/>
            <a:ext cx="265176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053328" y="1554480"/>
            <a:ext cx="2697480" cy="3154680"/>
          </a:xfrm>
          <a:prstGeom prst="rect">
            <a:avLst/>
          </a:prstGeom>
          <a:noFill/>
        </p:spPr>
        <p:txBody>
          <a:bodyPr wrap="square">
            <a:spAutoFit/>
          </a:bodyPr>
          <a:lstStyle/>
          <a:p>
            <a:pPr algn="l">
              <a:spcAft>
                <a:spcPts val="400"/>
              </a:spcAft>
            </a:pPr>
            <a:r>
              <a:rPr sz="1000">
                <a:solidFill>
                  <a:srgbClr val="0077B6"/>
                </a:solidFill>
                <a:latin typeface="Calibri"/>
              </a:rPr>
              <a:t>▪  </a:t>
            </a:r>
            <a:r>
              <a:rPr sz="1100">
                <a:solidFill>
                  <a:srgbClr val="1A1A2E"/>
                </a:solidFill>
                <a:latin typeface="Calibri"/>
              </a:rPr>
              <a:t>Structured XGBoost: solid mid-market baseline (28% median APE)</a:t>
            </a:r>
          </a:p>
          <a:p>
            <a:pPr algn="l">
              <a:spcAft>
                <a:spcPts val="400"/>
              </a:spcAft>
            </a:pPr>
            <a:r>
              <a:rPr sz="1000">
                <a:solidFill>
                  <a:srgbClr val="0077B6"/>
                </a:solidFill>
                <a:latin typeface="Calibri"/>
              </a:rPr>
              <a:t>▪  </a:t>
            </a:r>
            <a:r>
              <a:rPr sz="1100">
                <a:solidFill>
                  <a:srgbClr val="1A1A2E"/>
                </a:solidFill>
                <a:latin typeface="Calibri"/>
              </a:rPr>
              <a:t>AVM blend reduces premium market error from ~70% to ~10%</a:t>
            </a:r>
          </a:p>
          <a:p>
            <a:pPr algn="l">
              <a:spcAft>
                <a:spcPts val="400"/>
              </a:spcAft>
            </a:pPr>
            <a:r>
              <a:rPr sz="1000">
                <a:solidFill>
                  <a:srgbClr val="0077B6"/>
                </a:solidFill>
                <a:latin typeface="Calibri"/>
              </a:rPr>
              <a:t>▪  </a:t>
            </a:r>
            <a:r>
              <a:rPr sz="1100">
                <a:solidFill>
                  <a:srgbClr val="1A1A2E"/>
                </a:solidFill>
                <a:latin typeface="Calibri"/>
              </a:rPr>
              <a:t>CLIP condition scoring adds meaningful ±10–15% visual adjustment</a:t>
            </a:r>
          </a:p>
          <a:p>
            <a:pPr algn="l">
              <a:spcAft>
                <a:spcPts val="400"/>
              </a:spcAft>
            </a:pPr>
            <a:r>
              <a:rPr sz="1000">
                <a:solidFill>
                  <a:srgbClr val="0077B6"/>
                </a:solidFill>
                <a:latin typeface="Calibri"/>
              </a:rPr>
              <a:t>▪  </a:t>
            </a:r>
            <a:r>
              <a:rPr sz="1100">
                <a:solidFill>
                  <a:srgbClr val="1A1A2E"/>
                </a:solidFill>
                <a:latin typeface="Calibri"/>
              </a:rPr>
              <a:t>Outlier detection is critical for premium non-CA markets</a:t>
            </a:r>
          </a:p>
          <a:p>
            <a:pPr algn="l">
              <a:spcAft>
                <a:spcPts val="400"/>
              </a:spcAft>
            </a:pPr>
            <a:r>
              <a:rPr sz="1000">
                <a:solidFill>
                  <a:srgbClr val="0077B6"/>
                </a:solidFill>
                <a:latin typeface="Calibri"/>
              </a:rPr>
              <a:t>▪  </a:t>
            </a:r>
            <a:r>
              <a:rPr sz="1100">
                <a:solidFill>
                  <a:srgbClr val="1A1A2E"/>
                </a:solidFill>
                <a:latin typeface="Calibri"/>
              </a:rPr>
              <a:t>Full pipeline: &lt;1% error on tested premium sold home ($931k)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64008"/>
          </a:xfrm>
          <a:prstGeom prst="rect">
            <a:avLst/>
          </a:prstGeom>
          <a:solidFill>
            <a:srgbClr val="007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37160"/>
            <a:ext cx="8138160" cy="594360"/>
          </a:xfrm>
          <a:prstGeom prst="rect">
            <a:avLst/>
          </a:prstGeom>
          <a:noFill/>
        </p:spPr>
        <p:txBody>
          <a:bodyPr wrap="square">
            <a:spAutoFit/>
          </a:bodyPr>
          <a:lstStyle/>
          <a:p>
            <a:pPr algn="l"/>
            <a:r>
              <a:rPr sz="2800" b="1" i="0">
                <a:solidFill>
                  <a:srgbClr val="FFFFFF"/>
                </a:solidFill>
                <a:latin typeface="Calibri"/>
              </a:rPr>
              <a:t>Limitations  &amp;  Future Work</a:t>
            </a:r>
          </a:p>
        </p:txBody>
      </p:sp>
      <p:sp>
        <p:nvSpPr>
          <p:cNvPr id="5" name="Rectangle 4"/>
          <p:cNvSpPr/>
          <p:nvPr/>
        </p:nvSpPr>
        <p:spPr>
          <a:xfrm>
            <a:off x="320040" y="795528"/>
            <a:ext cx="8503920" cy="32004"/>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47472" y="914400"/>
            <a:ext cx="4069080" cy="3456432"/>
          </a:xfrm>
          <a:prstGeom prst="rect">
            <a:avLst/>
          </a:prstGeom>
          <a:solidFill>
            <a:srgbClr val="2E4A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987552"/>
            <a:ext cx="3767328" cy="411480"/>
          </a:xfrm>
          <a:prstGeom prst="rect">
            <a:avLst/>
          </a:prstGeom>
          <a:noFill/>
        </p:spPr>
        <p:txBody>
          <a:bodyPr wrap="square">
            <a:spAutoFit/>
          </a:bodyPr>
          <a:lstStyle/>
          <a:p>
            <a:pPr algn="l"/>
            <a:r>
              <a:rPr sz="1300" b="1" i="0">
                <a:solidFill>
                  <a:srgbClr val="FFFFFF"/>
                </a:solidFill>
                <a:latin typeface="Calibri"/>
              </a:rPr>
              <a:t>⚠  Known Limitations</a:t>
            </a:r>
          </a:p>
        </p:txBody>
      </p:sp>
      <p:sp>
        <p:nvSpPr>
          <p:cNvPr id="8" name="Rectangle 7"/>
          <p:cNvSpPr/>
          <p:nvPr/>
        </p:nvSpPr>
        <p:spPr>
          <a:xfrm>
            <a:off x="502920" y="1444752"/>
            <a:ext cx="3749039" cy="2743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536192"/>
            <a:ext cx="3822191" cy="1867178"/>
          </a:xfrm>
          <a:prstGeom prst="rect">
            <a:avLst/>
          </a:prstGeom>
          <a:noFill/>
        </p:spPr>
        <p:txBody>
          <a:bodyPr wrap="square">
            <a:spAutoFit/>
          </a:bodyPr>
          <a:lstStyle/>
          <a:p>
            <a:pPr algn="l">
              <a:spcAft>
                <a:spcPts val="400"/>
              </a:spcAft>
            </a:pPr>
            <a:r>
              <a:rPr sz="1050" dirty="0">
                <a:solidFill>
                  <a:srgbClr val="0077B6"/>
                </a:solidFill>
                <a:latin typeface="Calibri"/>
              </a:rPr>
              <a:t>▪  </a:t>
            </a:r>
            <a:r>
              <a:rPr sz="1150" dirty="0">
                <a:solidFill>
                  <a:srgbClr val="CADCFC"/>
                </a:solidFill>
                <a:latin typeface="Calibri"/>
              </a:rPr>
              <a:t>$0–300k tier MAPE 69%: distressed sales
and data quality skew this segment</a:t>
            </a:r>
          </a:p>
          <a:p>
            <a:pPr algn="l">
              <a:spcAft>
                <a:spcPts val="400"/>
              </a:spcAft>
            </a:pPr>
            <a:r>
              <a:rPr sz="1050" dirty="0">
                <a:solidFill>
                  <a:srgbClr val="0077B6"/>
                </a:solidFill>
                <a:latin typeface="Calibri"/>
              </a:rPr>
              <a:t>▪  </a:t>
            </a:r>
            <a:r>
              <a:rPr sz="1150" dirty="0">
                <a:solidFill>
                  <a:srgbClr val="CADCFC"/>
                </a:solidFill>
                <a:latin typeface="Calibri"/>
              </a:rPr>
              <a:t>CLIP calibration R² &lt; 0: only </a:t>
            </a:r>
            <a:r>
              <a:rPr sz="1150">
                <a:solidFill>
                  <a:srgbClr val="CADCFC"/>
                </a:solidFill>
                <a:latin typeface="Calibri"/>
              </a:rPr>
              <a:t>89 </a:t>
            </a:r>
            <a:r>
              <a:rPr lang="en-US" sz="1150">
                <a:solidFill>
                  <a:srgbClr val="CADCFC"/>
                </a:solidFill>
                <a:latin typeface="Calibri"/>
              </a:rPr>
              <a:t>multi-state </a:t>
            </a:r>
            <a:r>
              <a:rPr sz="1150">
                <a:solidFill>
                  <a:srgbClr val="CADCFC"/>
                </a:solidFill>
                <a:latin typeface="Calibri"/>
              </a:rPr>
              <a:t>training</a:t>
            </a:r>
            <a:r>
              <a:rPr sz="1150" dirty="0">
                <a:solidFill>
                  <a:srgbClr val="CADCFC"/>
                </a:solidFill>
                <a:latin typeface="Calibri"/>
              </a:rPr>
              <a:t>
images — centered fallback in use</a:t>
            </a:r>
          </a:p>
          <a:p>
            <a:pPr algn="l">
              <a:spcAft>
                <a:spcPts val="400"/>
              </a:spcAft>
            </a:pPr>
            <a:r>
              <a:rPr sz="1050" dirty="0">
                <a:solidFill>
                  <a:srgbClr val="0077B6"/>
                </a:solidFill>
                <a:latin typeface="Calibri"/>
              </a:rPr>
              <a:t>▪  </a:t>
            </a:r>
            <a:r>
              <a:rPr sz="1150" dirty="0">
                <a:solidFill>
                  <a:srgbClr val="CADCFC"/>
                </a:solidFill>
                <a:latin typeface="Calibri"/>
              </a:rPr>
              <a:t>No Zillow AVM: API returns wrong-state
results, removed from production</a:t>
            </a:r>
          </a:p>
          <a:p>
            <a:pPr algn="l">
              <a:spcAft>
                <a:spcPts val="400"/>
              </a:spcAft>
            </a:pPr>
            <a:r>
              <a:rPr sz="1050" dirty="0">
                <a:solidFill>
                  <a:srgbClr val="0077B6"/>
                </a:solidFill>
                <a:latin typeface="Calibri"/>
              </a:rPr>
              <a:t>▪  </a:t>
            </a:r>
            <a:r>
              <a:rPr sz="1150" dirty="0">
                <a:solidFill>
                  <a:srgbClr val="CADCFC"/>
                </a:solidFill>
                <a:latin typeface="Calibri"/>
              </a:rPr>
              <a:t>CA homes: model underpredicts (multi-state
training reduced CA-specific learning)</a:t>
            </a:r>
          </a:p>
        </p:txBody>
      </p:sp>
      <p:sp>
        <p:nvSpPr>
          <p:cNvPr id="10" name="Rectangle 9"/>
          <p:cNvSpPr/>
          <p:nvPr/>
        </p:nvSpPr>
        <p:spPr>
          <a:xfrm>
            <a:off x="4727448" y="914400"/>
            <a:ext cx="4069080" cy="3456432"/>
          </a:xfrm>
          <a:prstGeom prst="rect">
            <a:avLst/>
          </a:prstGeom>
          <a:solidFill>
            <a:srgbClr val="00B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82896" y="987552"/>
            <a:ext cx="3767328" cy="411480"/>
          </a:xfrm>
          <a:prstGeom prst="rect">
            <a:avLst/>
          </a:prstGeom>
          <a:noFill/>
        </p:spPr>
        <p:txBody>
          <a:bodyPr wrap="square">
            <a:spAutoFit/>
          </a:bodyPr>
          <a:lstStyle/>
          <a:p>
            <a:pPr algn="l"/>
            <a:r>
              <a:rPr sz="1300" b="1" i="0">
                <a:solidFill>
                  <a:srgbClr val="FFFFFF"/>
                </a:solidFill>
                <a:latin typeface="Calibri"/>
              </a:rPr>
              <a:t>&gt;&gt;  Future Improvements</a:t>
            </a:r>
          </a:p>
        </p:txBody>
      </p:sp>
      <p:sp>
        <p:nvSpPr>
          <p:cNvPr id="12" name="Rectangle 11"/>
          <p:cNvSpPr/>
          <p:nvPr/>
        </p:nvSpPr>
        <p:spPr>
          <a:xfrm>
            <a:off x="4882896" y="1444752"/>
            <a:ext cx="3749039" cy="27432"/>
          </a:xfrm>
          <a:prstGeom prst="rect">
            <a:avLst/>
          </a:prstGeom>
          <a:solidFill>
            <a:srgbClr val="00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882896" y="1536192"/>
            <a:ext cx="3822191" cy="1867178"/>
          </a:xfrm>
          <a:prstGeom prst="rect">
            <a:avLst/>
          </a:prstGeom>
          <a:noFill/>
        </p:spPr>
        <p:txBody>
          <a:bodyPr wrap="square">
            <a:spAutoFit/>
          </a:bodyPr>
          <a:lstStyle/>
          <a:p>
            <a:pPr algn="l">
              <a:spcAft>
                <a:spcPts val="400"/>
              </a:spcAft>
            </a:pPr>
            <a:r>
              <a:rPr sz="1050" dirty="0">
                <a:solidFill>
                  <a:srgbClr val="0077B6"/>
                </a:solidFill>
                <a:latin typeface="Calibri"/>
              </a:rPr>
              <a:t>▪  </a:t>
            </a:r>
            <a:r>
              <a:rPr sz="1150" dirty="0">
                <a:solidFill>
                  <a:srgbClr val="CADCFC"/>
                </a:solidFill>
                <a:latin typeface="Calibri"/>
              </a:rPr>
              <a:t>Filter training floor to $50k+ to remove
distressed sales from $0–300k tier</a:t>
            </a:r>
          </a:p>
          <a:p>
            <a:pPr algn="l">
              <a:spcAft>
                <a:spcPts val="400"/>
              </a:spcAft>
            </a:pPr>
            <a:r>
              <a:rPr sz="1050" dirty="0">
                <a:solidFill>
                  <a:srgbClr val="0077B6"/>
                </a:solidFill>
                <a:latin typeface="Calibri"/>
              </a:rPr>
              <a:t>▪  </a:t>
            </a:r>
            <a:r>
              <a:rPr sz="1150" dirty="0">
                <a:solidFill>
                  <a:srgbClr val="CADCFC"/>
                </a:solidFill>
                <a:latin typeface="Calibri"/>
              </a:rPr>
              <a:t>Collect 200+ more images for CLIP
</a:t>
            </a:r>
            <a:r>
              <a:rPr sz="1150">
                <a:solidFill>
                  <a:srgbClr val="CADCFC"/>
                </a:solidFill>
                <a:latin typeface="Calibri"/>
              </a:rPr>
              <a:t>calibration </a:t>
            </a:r>
            <a:endParaRPr lang="en-US" sz="1150">
              <a:solidFill>
                <a:srgbClr val="CADCFC"/>
              </a:solidFill>
              <a:latin typeface="Calibri"/>
            </a:endParaRPr>
          </a:p>
          <a:p>
            <a:pPr algn="l">
              <a:spcAft>
                <a:spcPts val="400"/>
              </a:spcAft>
            </a:pPr>
            <a:r>
              <a:rPr sz="1050">
                <a:solidFill>
                  <a:srgbClr val="0077B6"/>
                </a:solidFill>
                <a:latin typeface="Calibri"/>
              </a:rPr>
              <a:t>▪  </a:t>
            </a:r>
            <a:r>
              <a:rPr sz="1150" dirty="0">
                <a:solidFill>
                  <a:srgbClr val="CADCFC"/>
                </a:solidFill>
                <a:latin typeface="Calibri"/>
              </a:rPr>
              <a:t>Add lat</a:t>
            </a:r>
            <a:r>
              <a:rPr lang="en-US" sz="1150" dirty="0">
                <a:solidFill>
                  <a:srgbClr val="CADCFC"/>
                </a:solidFill>
                <a:latin typeface="Calibri"/>
              </a:rPr>
              <a:t>itude</a:t>
            </a:r>
            <a:r>
              <a:rPr sz="1150" dirty="0">
                <a:solidFill>
                  <a:srgbClr val="CADCFC"/>
                </a:solidFill>
                <a:latin typeface="Calibri"/>
              </a:rPr>
              <a:t>/lon</a:t>
            </a:r>
            <a:r>
              <a:rPr lang="en-US" sz="1150" dirty="0">
                <a:solidFill>
                  <a:srgbClr val="CADCFC"/>
                </a:solidFill>
                <a:latin typeface="Calibri"/>
              </a:rPr>
              <a:t>gitude</a:t>
            </a:r>
            <a:r>
              <a:rPr sz="1150" dirty="0">
                <a:solidFill>
                  <a:srgbClr val="CADCFC"/>
                </a:solidFill>
                <a:latin typeface="Calibri"/>
              </a:rPr>
              <a:t> features for finer geographic
resolution within cities</a:t>
            </a:r>
          </a:p>
          <a:p>
            <a:pPr algn="l">
              <a:spcAft>
                <a:spcPts val="400"/>
              </a:spcAft>
            </a:pPr>
            <a:r>
              <a:rPr sz="1050" dirty="0">
                <a:solidFill>
                  <a:srgbClr val="0077B6"/>
                </a:solidFill>
                <a:latin typeface="Calibri"/>
              </a:rPr>
              <a:t>▪  </a:t>
            </a:r>
            <a:r>
              <a:rPr sz="1150" dirty="0">
                <a:solidFill>
                  <a:srgbClr val="CADCFC"/>
                </a:solidFill>
                <a:latin typeface="Calibri"/>
              </a:rPr>
              <a:t>State-specific </a:t>
            </a:r>
            <a:r>
              <a:rPr sz="1150" dirty="0" err="1">
                <a:solidFill>
                  <a:srgbClr val="CADCFC"/>
                </a:solidFill>
                <a:latin typeface="Calibri"/>
              </a:rPr>
              <a:t>XGBoost</a:t>
            </a:r>
            <a:r>
              <a:rPr sz="1150" dirty="0">
                <a:solidFill>
                  <a:srgbClr val="CADCFC"/>
                </a:solidFill>
                <a:latin typeface="Calibri"/>
              </a:rPr>
              <a:t> fine-tuning
for CA, FL, HI outlier states</a:t>
            </a:r>
          </a:p>
        </p:txBody>
      </p:sp>
      <p:sp>
        <p:nvSpPr>
          <p:cNvPr id="14" name="Rectangle 13"/>
          <p:cNvSpPr/>
          <p:nvPr/>
        </p:nvSpPr>
        <p:spPr>
          <a:xfrm>
            <a:off x="347472" y="4498848"/>
            <a:ext cx="8458200" cy="493776"/>
          </a:xfrm>
          <a:prstGeom prst="rect">
            <a:avLst/>
          </a:prstGeom>
          <a:solidFill>
            <a:srgbClr val="0A1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553712"/>
            <a:ext cx="8183879" cy="384048"/>
          </a:xfrm>
          <a:prstGeom prst="rect">
            <a:avLst/>
          </a:prstGeom>
          <a:noFill/>
        </p:spPr>
        <p:txBody>
          <a:bodyPr wrap="square">
            <a:spAutoFit/>
          </a:bodyPr>
          <a:lstStyle/>
          <a:p>
            <a:pPr algn="ctr"/>
            <a:r>
              <a:rPr sz="1100" b="0" i="1">
                <a:solidFill>
                  <a:srgbClr val="CADCFC"/>
                </a:solidFill>
                <a:latin typeface="Calibri"/>
              </a:rPr>
              <a:t>Multi-signal stacking transforms a 42% MAPE baseline into a sub-1% full-pipeline result on known premium homes — demonstrating the value of layered ML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TotalTime>
  <Words>1446</Words>
  <Application>Microsoft Office PowerPoint</Application>
  <PresentationFormat>On-screen Show (16:9)</PresentationFormat>
  <Paragraphs>208</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brantson bui</cp:lastModifiedBy>
  <cp:revision>11</cp:revision>
  <cp:lastPrinted>2026-04-23T19:54:16Z</cp:lastPrinted>
  <dcterms:created xsi:type="dcterms:W3CDTF">2013-01-27T09:14:16Z</dcterms:created>
  <dcterms:modified xsi:type="dcterms:W3CDTF">2026-04-28T17:30:19Z</dcterms:modified>
  <cp:category/>
</cp:coreProperties>
</file>